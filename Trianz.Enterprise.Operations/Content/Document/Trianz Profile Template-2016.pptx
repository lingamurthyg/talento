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518" r:id="rId2"/>
    <p:sldId id="519" r:id="rId3"/>
  </p:sldIdLst>
  <p:sldSz cx="9144000" cy="6858000" type="screen4x3"/>
  <p:notesSz cx="6858000" cy="9144000"/>
  <p:defaultTextStyle>
    <a:defPPr>
      <a:defRPr lang="en-US"/>
    </a:defPPr>
    <a:lvl1pPr marL="0" algn="l" defTabSz="9142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4" algn="l" defTabSz="9142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08" algn="l" defTabSz="9142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11" algn="l" defTabSz="9142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13" algn="l" defTabSz="9142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18" algn="l" defTabSz="9142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21" algn="l" defTabSz="9142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25" algn="l" defTabSz="9142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29" algn="l" defTabSz="9142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3E11"/>
    <a:srgbClr val="EC9261"/>
    <a:srgbClr val="90A211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4ECDE-CFFB-48EB-B24B-70BA402C9BA6}" type="datetimeFigureOut">
              <a:rPr lang="en-US" smtClean="0"/>
              <a:t>8/29/2016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89160-212A-4CB8-AD78-4A35E23BBC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64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4" algn="l" defTabSz="9142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08" algn="l" defTabSz="9142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11" algn="l" defTabSz="9142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13" algn="l" defTabSz="9142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18" algn="l" defTabSz="9142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21" algn="l" defTabSz="9142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25" algn="l" defTabSz="9142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29" algn="l" defTabSz="9142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057400"/>
            <a:ext cx="429768" cy="274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57200" y="2057400"/>
            <a:ext cx="7287768" cy="274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7772400" y="2057400"/>
            <a:ext cx="914400" cy="27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57200" y="2057400"/>
            <a:ext cx="7315200" cy="27432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7315200" cy="9144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104" indent="0" algn="ctr">
              <a:buNone/>
              <a:defRPr sz="2000"/>
            </a:lvl2pPr>
            <a:lvl3pPr marL="914208" indent="0" algn="ctr">
              <a:buNone/>
              <a:defRPr sz="1800"/>
            </a:lvl3pPr>
            <a:lvl4pPr marL="1371311" indent="0" algn="ctr">
              <a:buNone/>
              <a:defRPr sz="1600"/>
            </a:lvl4pPr>
            <a:lvl5pPr marL="1828413" indent="0" algn="ctr">
              <a:buNone/>
              <a:defRPr sz="1600"/>
            </a:lvl5pPr>
            <a:lvl6pPr marL="2285518" indent="0" algn="ctr">
              <a:buNone/>
              <a:defRPr sz="1600"/>
            </a:lvl6pPr>
            <a:lvl7pPr marL="2742621" indent="0" algn="ctr">
              <a:buNone/>
              <a:defRPr sz="1600"/>
            </a:lvl7pPr>
            <a:lvl8pPr marL="3199725" indent="0" algn="ctr">
              <a:buNone/>
              <a:defRPr sz="1600"/>
            </a:lvl8pPr>
            <a:lvl9pPr marL="3656829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3844330" y="6553202"/>
            <a:ext cx="1142608" cy="238251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Trianz 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t>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714232" y="2057400"/>
            <a:ext cx="429768" cy="274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0" y="210841"/>
            <a:ext cx="1371600" cy="1320136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0" y="6276203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600" dirty="0" smtClean="0">
                <a:solidFill>
                  <a:schemeClr val="accent6"/>
                </a:solidFill>
                <a:latin typeface="+mj-lt"/>
              </a:rPr>
              <a:t>CLOUD </a:t>
            </a:r>
            <a:r>
              <a:rPr lang="en-US" sz="1200" b="1" spc="600" dirty="0" smtClean="0">
                <a:solidFill>
                  <a:schemeClr val="accent6"/>
                </a:solidFill>
                <a:latin typeface="+mj-lt"/>
              </a:rPr>
              <a:t>|</a:t>
            </a:r>
            <a:r>
              <a:rPr lang="en-US" sz="1200" spc="600" dirty="0" smtClean="0">
                <a:solidFill>
                  <a:schemeClr val="accent6"/>
                </a:solidFill>
                <a:latin typeface="+mj-lt"/>
              </a:rPr>
              <a:t> ANALYTICS</a:t>
            </a:r>
            <a:r>
              <a:rPr lang="en-US" sz="1200" spc="600" baseline="0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sz="1200" b="1" spc="600" baseline="0" dirty="0" smtClean="0">
                <a:solidFill>
                  <a:schemeClr val="accent6"/>
                </a:solidFill>
                <a:latin typeface="+mj-lt"/>
              </a:rPr>
              <a:t>|</a:t>
            </a:r>
            <a:r>
              <a:rPr lang="en-US" sz="1200" spc="600" baseline="0" dirty="0" smtClean="0">
                <a:solidFill>
                  <a:schemeClr val="accent6"/>
                </a:solidFill>
                <a:latin typeface="+mj-lt"/>
              </a:rPr>
              <a:t> DIGITAL </a:t>
            </a:r>
            <a:r>
              <a:rPr lang="en-US" sz="1200" b="1" spc="600" baseline="0" dirty="0" smtClean="0">
                <a:solidFill>
                  <a:schemeClr val="accent6"/>
                </a:solidFill>
                <a:latin typeface="+mj-lt"/>
              </a:rPr>
              <a:t>|</a:t>
            </a:r>
            <a:r>
              <a:rPr lang="en-US" sz="1200" spc="600" baseline="0" dirty="0" smtClean="0">
                <a:solidFill>
                  <a:schemeClr val="accent6"/>
                </a:solidFill>
                <a:latin typeface="+mj-lt"/>
              </a:rPr>
              <a:t> SECURITY</a:t>
            </a:r>
            <a:endParaRPr lang="en-US" sz="1200" spc="600" dirty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1999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057400"/>
            <a:ext cx="429768" cy="2743200"/>
          </a:xfrm>
          <a:prstGeom prst="rect">
            <a:avLst/>
          </a:prstGeom>
          <a:solidFill>
            <a:srgbClr val="EC92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57200" y="2057400"/>
            <a:ext cx="7287768" cy="2743200"/>
          </a:xfrm>
          <a:prstGeom prst="rect">
            <a:avLst/>
          </a:prstGeom>
          <a:solidFill>
            <a:srgbClr val="903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7772400" y="2057400"/>
            <a:ext cx="914400" cy="2743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57200" y="2057400"/>
            <a:ext cx="7315200" cy="27432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7315200" cy="9144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104" indent="0" algn="ctr">
              <a:buNone/>
              <a:defRPr sz="2000"/>
            </a:lvl2pPr>
            <a:lvl3pPr marL="914208" indent="0" algn="ctr">
              <a:buNone/>
              <a:defRPr sz="1800"/>
            </a:lvl3pPr>
            <a:lvl4pPr marL="1371311" indent="0" algn="ctr">
              <a:buNone/>
              <a:defRPr sz="1600"/>
            </a:lvl4pPr>
            <a:lvl5pPr marL="1828413" indent="0" algn="ctr">
              <a:buNone/>
              <a:defRPr sz="1600"/>
            </a:lvl5pPr>
            <a:lvl6pPr marL="2285518" indent="0" algn="ctr">
              <a:buNone/>
              <a:defRPr sz="1600"/>
            </a:lvl6pPr>
            <a:lvl7pPr marL="2742621" indent="0" algn="ctr">
              <a:buNone/>
              <a:defRPr sz="1600"/>
            </a:lvl7pPr>
            <a:lvl8pPr marL="3199725" indent="0" algn="ctr">
              <a:buNone/>
              <a:defRPr sz="1600"/>
            </a:lvl8pPr>
            <a:lvl9pPr marL="3656829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3844330" y="6553202"/>
            <a:ext cx="1142608" cy="238251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Trianz 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t>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728364" y="2057400"/>
            <a:ext cx="429768" cy="2743200"/>
          </a:xfrm>
          <a:prstGeom prst="rect">
            <a:avLst/>
          </a:prstGeom>
          <a:solidFill>
            <a:srgbClr val="EC92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0" y="210841"/>
            <a:ext cx="1371600" cy="1320136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0" y="6276203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600" dirty="0" smtClean="0">
                <a:solidFill>
                  <a:schemeClr val="accent6"/>
                </a:solidFill>
                <a:latin typeface="+mj-lt"/>
              </a:rPr>
              <a:t>CLOUD </a:t>
            </a:r>
            <a:r>
              <a:rPr lang="en-US" sz="1200" b="1" spc="600" dirty="0" smtClean="0">
                <a:solidFill>
                  <a:schemeClr val="accent6"/>
                </a:solidFill>
                <a:latin typeface="+mj-lt"/>
              </a:rPr>
              <a:t>|</a:t>
            </a:r>
            <a:r>
              <a:rPr lang="en-US" sz="1200" spc="600" dirty="0" smtClean="0">
                <a:solidFill>
                  <a:schemeClr val="accent6"/>
                </a:solidFill>
                <a:latin typeface="+mj-lt"/>
              </a:rPr>
              <a:t> ANALYTICS</a:t>
            </a:r>
            <a:r>
              <a:rPr lang="en-US" sz="1200" spc="600" baseline="0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sz="1200" b="1" spc="600" baseline="0" dirty="0" smtClean="0">
                <a:solidFill>
                  <a:schemeClr val="accent6"/>
                </a:solidFill>
                <a:latin typeface="+mj-lt"/>
              </a:rPr>
              <a:t>|</a:t>
            </a:r>
            <a:r>
              <a:rPr lang="en-US" sz="1200" spc="600" baseline="0" dirty="0" smtClean="0">
                <a:solidFill>
                  <a:schemeClr val="accent6"/>
                </a:solidFill>
                <a:latin typeface="+mj-lt"/>
              </a:rPr>
              <a:t> DIGITAL </a:t>
            </a:r>
            <a:r>
              <a:rPr lang="en-US" sz="1200" b="1" spc="600" baseline="0" dirty="0" smtClean="0">
                <a:solidFill>
                  <a:schemeClr val="accent6"/>
                </a:solidFill>
                <a:latin typeface="+mj-lt"/>
              </a:rPr>
              <a:t>|</a:t>
            </a:r>
            <a:r>
              <a:rPr lang="en-US" sz="1200" spc="600" baseline="0" dirty="0" smtClean="0">
                <a:solidFill>
                  <a:schemeClr val="accent6"/>
                </a:solidFill>
                <a:latin typeface="+mj-lt"/>
              </a:rPr>
              <a:t> SECURITY</a:t>
            </a:r>
            <a:endParaRPr lang="en-US" sz="1200" spc="600" dirty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649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9639"/>
            <a:ext cx="9144000" cy="5471162"/>
          </a:xfrm>
        </p:spPr>
        <p:txBody>
          <a:bodyPr/>
          <a:lstStyle>
            <a:lvl1pPr marL="228552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1pPr>
            <a:lvl2pPr marL="685656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2pPr>
            <a:lvl3pPr marL="1142758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3pPr>
            <a:lvl4pPr marL="1599862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4pPr>
            <a:lvl5pPr marL="2056966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7" descr="Trianz Vertical 3D_Col_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6537960"/>
            <a:ext cx="373165" cy="32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 userDrawn="1"/>
        </p:nvSpPr>
        <p:spPr>
          <a:xfrm>
            <a:off x="8361073" y="6553200"/>
            <a:ext cx="327293" cy="230814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>
              <a:defRPr/>
            </a:pPr>
            <a:fld id="{23E3E329-8955-4AC6-9651-1953110101A5}" type="slidenum">
              <a:rPr lang="en-US" sz="90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pPr>
                <a:defRPr/>
              </a:pPr>
              <a:t>‹#›</a:t>
            </a:fld>
            <a:endParaRPr lang="en-US" sz="1000" dirty="0">
              <a:solidFill>
                <a:prstClr val="white">
                  <a:lumMod val="50000"/>
                </a:prstClr>
              </a:solidFill>
              <a:cs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44330" y="6553202"/>
            <a:ext cx="1142608" cy="238251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t>Trianz Confidential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6477000"/>
            <a:ext cx="9144000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0"/>
            <a:ext cx="429768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57200" y="0"/>
            <a:ext cx="7287768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7772400" y="0"/>
            <a:ext cx="914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714232" y="0"/>
            <a:ext cx="429768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8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52534"/>
            <a:ext cx="9144000" cy="4748269"/>
          </a:xfrm>
        </p:spPr>
        <p:txBody>
          <a:bodyPr/>
          <a:lstStyle>
            <a:lvl1pPr marL="228552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1pPr>
            <a:lvl2pPr marL="685656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2pPr>
            <a:lvl3pPr marL="1142758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3pPr>
            <a:lvl4pPr marL="1599862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4pPr>
            <a:lvl5pPr marL="2056966" indent="-228552">
              <a:buClr>
                <a:schemeClr val="accent6"/>
              </a:buClr>
              <a:buFont typeface="Webdings" panose="05030102010509060703" pitchFamily="18" charset="2"/>
              <a:buChar char="4"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7" descr="Trianz Vertical 3D_Col_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6537960"/>
            <a:ext cx="373165" cy="32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 userDrawn="1"/>
        </p:nvSpPr>
        <p:spPr>
          <a:xfrm>
            <a:off x="8361073" y="6553200"/>
            <a:ext cx="327293" cy="230814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>
              <a:defRPr/>
            </a:pPr>
            <a:fld id="{23E3E329-8955-4AC6-9651-1953110101A5}" type="slidenum">
              <a:rPr lang="en-US" sz="90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pPr>
                <a:defRPr/>
              </a:pPr>
              <a:t>‹#›</a:t>
            </a:fld>
            <a:endParaRPr lang="en-US" sz="1000" dirty="0">
              <a:solidFill>
                <a:prstClr val="white">
                  <a:lumMod val="50000"/>
                </a:prstClr>
              </a:solidFill>
              <a:cs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44330" y="6553202"/>
            <a:ext cx="1142608" cy="238251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t>Trianz Confidential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6477000"/>
            <a:ext cx="9144000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29481"/>
            <a:ext cx="9144000" cy="66225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accent2"/>
                </a:solidFill>
                <a:latin typeface="+mj-lt"/>
              </a:defRPr>
            </a:lvl1pPr>
            <a:lvl2pPr marL="457104" indent="0">
              <a:buNone/>
              <a:defRPr sz="1400"/>
            </a:lvl2pPr>
            <a:lvl3pPr marL="914208" indent="0">
              <a:buNone/>
              <a:defRPr sz="1200"/>
            </a:lvl3pPr>
            <a:lvl4pPr marL="1371311" indent="0">
              <a:buNone/>
              <a:defRPr sz="1000"/>
            </a:lvl4pPr>
            <a:lvl5pPr marL="1828413" indent="0">
              <a:buNone/>
              <a:defRPr sz="1000"/>
            </a:lvl5pPr>
            <a:lvl6pPr marL="2285518" indent="0">
              <a:buNone/>
              <a:defRPr sz="1000"/>
            </a:lvl6pPr>
            <a:lvl7pPr marL="2742621" indent="0">
              <a:buNone/>
              <a:defRPr sz="1000"/>
            </a:lvl7pPr>
            <a:lvl8pPr marL="3199725" indent="0">
              <a:buNone/>
              <a:defRPr sz="1000"/>
            </a:lvl8pPr>
            <a:lvl9pPr marL="3656829" indent="0">
              <a:buNone/>
              <a:defRPr sz="1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429768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457200" y="0"/>
            <a:ext cx="7287768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7772400" y="0"/>
            <a:ext cx="914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8714232" y="0"/>
            <a:ext cx="429768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42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1" name="Picture 7" descr="Trianz Vertical 3D_Col_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6537960"/>
            <a:ext cx="373165" cy="32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 userDrawn="1"/>
        </p:nvSpPr>
        <p:spPr>
          <a:xfrm>
            <a:off x="8361073" y="6553200"/>
            <a:ext cx="327293" cy="230814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>
              <a:defRPr/>
            </a:pPr>
            <a:fld id="{23E3E329-8955-4AC6-9651-1953110101A5}" type="slidenum">
              <a:rPr lang="en-US" sz="90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pPr>
                <a:defRPr/>
              </a:pPr>
              <a:t>‹#›</a:t>
            </a:fld>
            <a:endParaRPr lang="en-US" sz="1000" dirty="0">
              <a:solidFill>
                <a:prstClr val="white">
                  <a:lumMod val="50000"/>
                </a:prstClr>
              </a:solidFill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844330" y="6553202"/>
            <a:ext cx="1142608" cy="238251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t>Trianz Confidential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0" y="6477000"/>
            <a:ext cx="9144000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0" y="0"/>
            <a:ext cx="429768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457200" y="0"/>
            <a:ext cx="7287768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7772400" y="0"/>
            <a:ext cx="914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8714232" y="0"/>
            <a:ext cx="429768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61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Trianz Vertical 3D_Col_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6537960"/>
            <a:ext cx="373165" cy="32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 userDrawn="1"/>
        </p:nvSpPr>
        <p:spPr>
          <a:xfrm>
            <a:off x="8361073" y="6553200"/>
            <a:ext cx="327293" cy="230814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>
              <a:defRPr/>
            </a:pPr>
            <a:fld id="{23E3E329-8955-4AC6-9651-1953110101A5}" type="slidenum">
              <a:rPr lang="en-US" sz="90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pPr>
                <a:defRPr/>
              </a:pPr>
              <a:t>‹#›</a:t>
            </a:fld>
            <a:endParaRPr lang="en-US" sz="1000" dirty="0">
              <a:solidFill>
                <a:prstClr val="white">
                  <a:lumMod val="50000"/>
                </a:prstClr>
              </a:solidFill>
              <a:cs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44330" y="6553202"/>
            <a:ext cx="1142608" cy="238251"/>
          </a:xfrm>
          <a:prstGeom prst="rect">
            <a:avLst/>
          </a:prstGeom>
          <a:noFill/>
        </p:spPr>
        <p:txBody>
          <a:bodyPr wrap="none" lIns="91420" tIns="45711" rIns="91420" bIns="45711">
            <a:spAutoFit/>
          </a:bodyPr>
          <a:lstStyle/>
          <a:p>
            <a:pPr algn="ctr">
              <a:defRPr/>
            </a:pPr>
            <a:r>
              <a:rPr lang="en-US" sz="900" dirty="0">
                <a:solidFill>
                  <a:prstClr val="white">
                    <a:lumMod val="50000"/>
                  </a:prstClr>
                </a:solidFill>
                <a:cs typeface="Segoe UI" panose="020B0502040204020203" pitchFamily="34" charset="0"/>
              </a:rPr>
              <a:t>Trianz Confidential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6477000"/>
            <a:ext cx="9144000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0"/>
            <a:ext cx="429768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57200" y="0"/>
            <a:ext cx="7287768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7772400" y="0"/>
            <a:ext cx="914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714232" y="0"/>
            <a:ext cx="429768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0" tIns="45711" rIns="91420" bIns="45711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25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20" tIns="45711" rIns="91420" bIns="457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20" tIns="45711" rIns="91420" bIns="457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20" tIns="45711" rIns="91420" bIns="4571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5B472-0A2B-4952-8DEA-203EF54FCFE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20" tIns="45711" rIns="91420" bIns="4571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20" tIns="45711" rIns="91420" bIns="4571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72903-DDC6-4D95-8381-2D94BD22B3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5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91420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2" indent="-228552" algn="l" defTabSz="9142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56" indent="-228552" algn="l" defTabSz="91420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58" indent="-228552" algn="l" defTabSz="91420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62" indent="-228552" algn="l" defTabSz="91420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66" indent="-228552" algn="l" defTabSz="91420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69" indent="-228552" algn="l" defTabSz="91420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73" indent="-228552" algn="l" defTabSz="91420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77" indent="-228552" algn="l" defTabSz="91420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79" indent="-228552" algn="l" defTabSz="91420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4" algn="l" defTabSz="9142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08" algn="l" defTabSz="9142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11" algn="l" defTabSz="9142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3" algn="l" defTabSz="9142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18" algn="l" defTabSz="9142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21" algn="l" defTabSz="9142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25" algn="l" defTabSz="9142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29" algn="l" defTabSz="91420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&lt;Name&gt; – &lt;Designation&gt;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2674" y="1280732"/>
            <a:ext cx="6505326" cy="2300667"/>
          </a:xfrm>
          <a:prstGeom prst="rect">
            <a:avLst/>
          </a:prstGeom>
          <a:noFill/>
          <a:ln w="9525">
            <a:solidFill>
              <a:schemeClr val="accent3"/>
            </a:solidFill>
            <a:prstDash val="solid"/>
            <a:headEnd/>
            <a:tailEnd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91440" bIns="91440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 smtClean="0">
                <a:solidFill>
                  <a:srgbClr val="000000"/>
                </a:solidFill>
              </a:rPr>
              <a:t>&lt;Add background here&gt;</a:t>
            </a:r>
            <a:endParaRPr lang="en-US" sz="11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674" y="975937"/>
            <a:ext cx="2286000" cy="304794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04794">
                <a:moveTo>
                  <a:pt x="0" y="0"/>
                </a:moveTo>
                <a:lnTo>
                  <a:pt x="1953491" y="0"/>
                </a:lnTo>
                <a:lnTo>
                  <a:pt x="2286000" y="304794"/>
                </a:lnTo>
                <a:lnTo>
                  <a:pt x="0" y="30479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Background Summary</a:t>
            </a:r>
            <a:endParaRPr lang="en-US" sz="1400" b="1" dirty="0"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72442" y="1280731"/>
            <a:ext cx="2019158" cy="23006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&lt;Insert Image here&gt;</a:t>
            </a:r>
            <a:endParaRPr lang="en-US" sz="1400" dirty="0"/>
          </a:p>
        </p:txBody>
      </p:sp>
      <p:sp>
        <p:nvSpPr>
          <p:cNvPr id="16" name="Rectangle 4"/>
          <p:cNvSpPr/>
          <p:nvPr/>
        </p:nvSpPr>
        <p:spPr>
          <a:xfrm>
            <a:off x="6972442" y="966411"/>
            <a:ext cx="1554480" cy="314319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9525 h 314319"/>
              <a:gd name="connsiteX1" fmla="*/ 1799410 w 2286000"/>
              <a:gd name="connsiteY1" fmla="*/ 0 h 314319"/>
              <a:gd name="connsiteX2" fmla="*/ 2286000 w 2286000"/>
              <a:gd name="connsiteY2" fmla="*/ 314319 h 314319"/>
              <a:gd name="connsiteX3" fmla="*/ 0 w 2286000"/>
              <a:gd name="connsiteY3" fmla="*/ 314319 h 314319"/>
              <a:gd name="connsiteX4" fmla="*/ 0 w 2286000"/>
              <a:gd name="connsiteY4" fmla="*/ 9525 h 31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14319">
                <a:moveTo>
                  <a:pt x="0" y="9525"/>
                </a:moveTo>
                <a:lnTo>
                  <a:pt x="1799410" y="0"/>
                </a:lnTo>
                <a:lnTo>
                  <a:pt x="2286000" y="314319"/>
                </a:lnTo>
                <a:lnTo>
                  <a:pt x="0" y="314319"/>
                </a:lnTo>
                <a:lnTo>
                  <a:pt x="0" y="9525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&lt;First name&gt;</a:t>
            </a:r>
            <a:endParaRPr lang="en-US" sz="1400" b="1" dirty="0"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38766" y="5716965"/>
            <a:ext cx="4114800" cy="696537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 smtClean="0">
                <a:solidFill>
                  <a:srgbClr val="000000"/>
                </a:solidFill>
              </a:rPr>
              <a:t>&lt;</a:t>
            </a:r>
            <a:r>
              <a:rPr lang="en-US" sz="1100" dirty="0">
                <a:solidFill>
                  <a:srgbClr val="000000"/>
                </a:solidFill>
              </a:rPr>
              <a:t>Add qualification&gt;</a:t>
            </a:r>
          </a:p>
        </p:txBody>
      </p:sp>
      <p:sp>
        <p:nvSpPr>
          <p:cNvPr id="14" name="Rectangle 4"/>
          <p:cNvSpPr/>
          <p:nvPr/>
        </p:nvSpPr>
        <p:spPr>
          <a:xfrm>
            <a:off x="4738766" y="5402647"/>
            <a:ext cx="2286000" cy="314319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9525 h 314319"/>
              <a:gd name="connsiteX1" fmla="*/ 1799410 w 2286000"/>
              <a:gd name="connsiteY1" fmla="*/ 0 h 314319"/>
              <a:gd name="connsiteX2" fmla="*/ 2286000 w 2286000"/>
              <a:gd name="connsiteY2" fmla="*/ 314319 h 314319"/>
              <a:gd name="connsiteX3" fmla="*/ 0 w 2286000"/>
              <a:gd name="connsiteY3" fmla="*/ 314319 h 314319"/>
              <a:gd name="connsiteX4" fmla="*/ 0 w 2286000"/>
              <a:gd name="connsiteY4" fmla="*/ 9525 h 31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14319">
                <a:moveTo>
                  <a:pt x="0" y="9525"/>
                </a:moveTo>
                <a:lnTo>
                  <a:pt x="1799410" y="0"/>
                </a:lnTo>
                <a:lnTo>
                  <a:pt x="2286000" y="314319"/>
                </a:lnTo>
                <a:lnTo>
                  <a:pt x="0" y="314319"/>
                </a:lnTo>
                <a:lnTo>
                  <a:pt x="0" y="9525"/>
                </a:lnTo>
                <a:close/>
              </a:path>
            </a:pathLst>
          </a:cu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Education</a:t>
            </a:r>
            <a:endParaRPr lang="en-US" sz="1400" b="1" dirty="0"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2674" y="3944623"/>
            <a:ext cx="4295526" cy="2468880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 smtClean="0">
                <a:solidFill>
                  <a:srgbClr val="000000"/>
                </a:solidFill>
              </a:rPr>
              <a:t>&lt;</a:t>
            </a:r>
            <a:r>
              <a:rPr lang="en-US" sz="1100" dirty="0">
                <a:solidFill>
                  <a:srgbClr val="000000"/>
                </a:solidFill>
              </a:rPr>
              <a:t>Add work experience&gt;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8766" y="3944624"/>
            <a:ext cx="4114800" cy="13716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 smtClean="0">
                <a:solidFill>
                  <a:srgbClr val="000000"/>
                </a:solidFill>
              </a:rPr>
              <a:t>&lt;</a:t>
            </a:r>
            <a:r>
              <a:rPr lang="en-US" sz="1100" dirty="0">
                <a:solidFill>
                  <a:srgbClr val="000000"/>
                </a:solidFill>
              </a:rPr>
              <a:t>Add key </a:t>
            </a:r>
            <a:r>
              <a:rPr lang="en-US" sz="1100" dirty="0" smtClean="0">
                <a:solidFill>
                  <a:srgbClr val="000000"/>
                </a:solidFill>
              </a:rPr>
              <a:t>clients&gt;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2" name="Rectangle 4"/>
          <p:cNvSpPr/>
          <p:nvPr/>
        </p:nvSpPr>
        <p:spPr>
          <a:xfrm>
            <a:off x="352674" y="3639829"/>
            <a:ext cx="2286000" cy="304794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04794">
                <a:moveTo>
                  <a:pt x="0" y="0"/>
                </a:moveTo>
                <a:lnTo>
                  <a:pt x="1953491" y="0"/>
                </a:lnTo>
                <a:lnTo>
                  <a:pt x="2286000" y="304794"/>
                </a:lnTo>
                <a:lnTo>
                  <a:pt x="0" y="30479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Experience</a:t>
            </a:r>
            <a:endParaRPr lang="en-US" sz="1400" b="1" dirty="0">
              <a:cs typeface="Arial" pitchFamily="34" charset="0"/>
            </a:endParaRPr>
          </a:p>
        </p:txBody>
      </p:sp>
      <p:sp>
        <p:nvSpPr>
          <p:cNvPr id="23" name="Rectangle 4"/>
          <p:cNvSpPr/>
          <p:nvPr/>
        </p:nvSpPr>
        <p:spPr>
          <a:xfrm>
            <a:off x="4738766" y="3657600"/>
            <a:ext cx="2286000" cy="304794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04794">
                <a:moveTo>
                  <a:pt x="0" y="0"/>
                </a:moveTo>
                <a:lnTo>
                  <a:pt x="1953491" y="0"/>
                </a:lnTo>
                <a:lnTo>
                  <a:pt x="2286000" y="304794"/>
                </a:lnTo>
                <a:lnTo>
                  <a:pt x="0" y="3047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Key Clients</a:t>
            </a:r>
            <a:endParaRPr lang="en-US" sz="1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89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Venkata </a:t>
            </a:r>
            <a:r>
              <a:rPr lang="en-US" dirty="0" err="1"/>
              <a:t>Dakshina</a:t>
            </a:r>
            <a:r>
              <a:rPr lang="en-US" dirty="0"/>
              <a:t> Murthy </a:t>
            </a:r>
            <a:r>
              <a:rPr lang="en-US" dirty="0" err="1"/>
              <a:t>Attili</a:t>
            </a:r>
            <a:r>
              <a:rPr lang="en-US" dirty="0"/>
              <a:t> – </a:t>
            </a:r>
            <a:r>
              <a:rPr lang="en-US" dirty="0" smtClean="0"/>
              <a:t>Architect (Sample)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2674" y="1280732"/>
            <a:ext cx="6505326" cy="2300667"/>
          </a:xfrm>
          <a:prstGeom prst="rect">
            <a:avLst/>
          </a:prstGeom>
          <a:noFill/>
          <a:ln w="9525">
            <a:solidFill>
              <a:schemeClr val="accent3"/>
            </a:solidFill>
            <a:prstDash val="solid"/>
            <a:headEnd/>
            <a:tailEnd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91440" bIns="91440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Architect with 10 years of IT experience in delivering &amp; maintaining complex DWH &amp; BI solutions and guiding high performance teams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Excellent in all phases of project life cycle &amp; established credibility in requirement analysis, estimation, conceptualizing cost effective and customized solutions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Experienced in both Data integration, Data Architecture &amp; Business intelligence 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Acquainted with several tools and technologies like SQL Server, SAP BODS, Microsoft BI (SSIS, SSAS, SSRS and Power BI), Erwin, </a:t>
            </a:r>
            <a:r>
              <a:rPr lang="en-US" sz="1100" dirty="0" err="1">
                <a:solidFill>
                  <a:srgbClr val="000000"/>
                </a:solidFill>
              </a:rPr>
              <a:t>Cognos</a:t>
            </a:r>
            <a:r>
              <a:rPr lang="en-US" sz="1100" dirty="0">
                <a:solidFill>
                  <a:srgbClr val="000000"/>
                </a:solidFill>
              </a:rPr>
              <a:t> BI, </a:t>
            </a:r>
            <a:r>
              <a:rPr lang="en-US" sz="1100" dirty="0" err="1">
                <a:solidFill>
                  <a:srgbClr val="000000"/>
                </a:solidFill>
              </a:rPr>
              <a:t>Datastage</a:t>
            </a:r>
            <a:r>
              <a:rPr lang="en-US" sz="1100" dirty="0">
                <a:solidFill>
                  <a:srgbClr val="000000"/>
                </a:solidFill>
              </a:rPr>
              <a:t>, DB2, Teradata and also with exposure  to </a:t>
            </a:r>
            <a:r>
              <a:rPr lang="en-US" sz="1100" dirty="0" err="1">
                <a:solidFill>
                  <a:srgbClr val="000000"/>
                </a:solidFill>
              </a:rPr>
              <a:t>Pentaho</a:t>
            </a:r>
            <a:r>
              <a:rPr lang="en-US" sz="1100" dirty="0">
                <a:solidFill>
                  <a:srgbClr val="000000"/>
                </a:solidFill>
              </a:rPr>
              <a:t> DI, </a:t>
            </a:r>
            <a:r>
              <a:rPr lang="en-US" sz="1100" dirty="0" err="1">
                <a:solidFill>
                  <a:srgbClr val="000000"/>
                </a:solidFill>
              </a:rPr>
              <a:t>Informationbuilders</a:t>
            </a:r>
            <a:r>
              <a:rPr lang="en-US" sz="1100" dirty="0">
                <a:solidFill>
                  <a:srgbClr val="000000"/>
                </a:solidFill>
              </a:rPr>
              <a:t> Focus and Tableau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Prior to joining Trianz, </a:t>
            </a:r>
            <a:r>
              <a:rPr lang="en-US" sz="1100" dirty="0" err="1">
                <a:solidFill>
                  <a:srgbClr val="000000"/>
                </a:solidFill>
              </a:rPr>
              <a:t>Venkat</a:t>
            </a:r>
            <a:r>
              <a:rPr lang="en-US" sz="1100" dirty="0">
                <a:solidFill>
                  <a:srgbClr val="000000"/>
                </a:solidFill>
              </a:rPr>
              <a:t> had worked with </a:t>
            </a:r>
            <a:r>
              <a:rPr lang="en-US" sz="1100" dirty="0" err="1">
                <a:solidFill>
                  <a:srgbClr val="000000"/>
                </a:solidFill>
              </a:rPr>
              <a:t>Capgemini</a:t>
            </a:r>
            <a:r>
              <a:rPr lang="en-US" sz="1100" dirty="0">
                <a:solidFill>
                  <a:srgbClr val="000000"/>
                </a:solidFill>
              </a:rPr>
              <a:t> Consulting Ind. Pvt. Ltd. and Infosys Ltd and held positions as Architect, Technology lead and Senior Consultant and Developer.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674" y="975937"/>
            <a:ext cx="2286000" cy="304794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04794">
                <a:moveTo>
                  <a:pt x="0" y="0"/>
                </a:moveTo>
                <a:lnTo>
                  <a:pt x="1953491" y="0"/>
                </a:lnTo>
                <a:lnTo>
                  <a:pt x="2286000" y="304794"/>
                </a:lnTo>
                <a:lnTo>
                  <a:pt x="0" y="30479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Summary</a:t>
            </a:r>
            <a:endParaRPr lang="en-US" sz="1400" b="1" dirty="0"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72442" y="1280731"/>
            <a:ext cx="2019158" cy="23006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&lt;Insert Image here&gt;</a:t>
            </a:r>
            <a:endParaRPr lang="en-US" sz="1400" dirty="0"/>
          </a:p>
        </p:txBody>
      </p:sp>
      <p:sp>
        <p:nvSpPr>
          <p:cNvPr id="16" name="Rectangle 4"/>
          <p:cNvSpPr/>
          <p:nvPr/>
        </p:nvSpPr>
        <p:spPr>
          <a:xfrm>
            <a:off x="6972442" y="966411"/>
            <a:ext cx="1554480" cy="314319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9525 h 314319"/>
              <a:gd name="connsiteX1" fmla="*/ 1799410 w 2286000"/>
              <a:gd name="connsiteY1" fmla="*/ 0 h 314319"/>
              <a:gd name="connsiteX2" fmla="*/ 2286000 w 2286000"/>
              <a:gd name="connsiteY2" fmla="*/ 314319 h 314319"/>
              <a:gd name="connsiteX3" fmla="*/ 0 w 2286000"/>
              <a:gd name="connsiteY3" fmla="*/ 314319 h 314319"/>
              <a:gd name="connsiteX4" fmla="*/ 0 w 2286000"/>
              <a:gd name="connsiteY4" fmla="*/ 9525 h 31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14319">
                <a:moveTo>
                  <a:pt x="0" y="9525"/>
                </a:moveTo>
                <a:lnTo>
                  <a:pt x="1799410" y="0"/>
                </a:lnTo>
                <a:lnTo>
                  <a:pt x="2286000" y="314319"/>
                </a:lnTo>
                <a:lnTo>
                  <a:pt x="0" y="314319"/>
                </a:lnTo>
                <a:lnTo>
                  <a:pt x="0" y="9525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Venkat</a:t>
            </a:r>
            <a:endParaRPr lang="en-US" sz="1400" b="1" dirty="0"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738766" y="5716965"/>
            <a:ext cx="4114800" cy="696537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Bachelor of Technology – </a:t>
            </a:r>
            <a:r>
              <a:rPr lang="en-US" sz="1100" dirty="0" err="1">
                <a:solidFill>
                  <a:srgbClr val="000000"/>
                </a:solidFill>
              </a:rPr>
              <a:t>J.N.T.University</a:t>
            </a:r>
            <a:r>
              <a:rPr lang="en-US" sz="1100" dirty="0">
                <a:solidFill>
                  <a:srgbClr val="000000"/>
                </a:solidFill>
              </a:rPr>
              <a:t>, India</a:t>
            </a:r>
          </a:p>
        </p:txBody>
      </p:sp>
      <p:sp>
        <p:nvSpPr>
          <p:cNvPr id="19" name="Rectangle 4"/>
          <p:cNvSpPr/>
          <p:nvPr/>
        </p:nvSpPr>
        <p:spPr>
          <a:xfrm>
            <a:off x="4738766" y="5402647"/>
            <a:ext cx="2286000" cy="314319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9525 h 314319"/>
              <a:gd name="connsiteX1" fmla="*/ 1799410 w 2286000"/>
              <a:gd name="connsiteY1" fmla="*/ 0 h 314319"/>
              <a:gd name="connsiteX2" fmla="*/ 2286000 w 2286000"/>
              <a:gd name="connsiteY2" fmla="*/ 314319 h 314319"/>
              <a:gd name="connsiteX3" fmla="*/ 0 w 2286000"/>
              <a:gd name="connsiteY3" fmla="*/ 314319 h 314319"/>
              <a:gd name="connsiteX4" fmla="*/ 0 w 2286000"/>
              <a:gd name="connsiteY4" fmla="*/ 9525 h 31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14319">
                <a:moveTo>
                  <a:pt x="0" y="9525"/>
                </a:moveTo>
                <a:lnTo>
                  <a:pt x="1799410" y="0"/>
                </a:lnTo>
                <a:lnTo>
                  <a:pt x="2286000" y="314319"/>
                </a:lnTo>
                <a:lnTo>
                  <a:pt x="0" y="314319"/>
                </a:lnTo>
                <a:lnTo>
                  <a:pt x="0" y="9525"/>
                </a:lnTo>
                <a:close/>
              </a:path>
            </a:pathLst>
          </a:cu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Education</a:t>
            </a:r>
            <a:endParaRPr lang="en-US" sz="1400" b="1" dirty="0">
              <a:cs typeface="Arial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2674" y="3944623"/>
            <a:ext cx="4295526" cy="2468880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Architect in multiple engagements for world’s largest spirits Company Diageo Plc, delivering analytics solutions like Net Price Visibility, ISC KPI &amp; NAM BI.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Technology Lead in several Business Intelligence engagements for clients like </a:t>
            </a:r>
            <a:r>
              <a:rPr lang="en-US" sz="1100" dirty="0" err="1">
                <a:solidFill>
                  <a:srgbClr val="000000"/>
                </a:solidFill>
              </a:rPr>
              <a:t>TrueBlue</a:t>
            </a:r>
            <a:r>
              <a:rPr lang="en-US" sz="1100" dirty="0">
                <a:solidFill>
                  <a:srgbClr val="000000"/>
                </a:solidFill>
              </a:rPr>
              <a:t> Inc. United Airlines, Coca-Cola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Developer providing configurable solutions for </a:t>
            </a:r>
            <a:r>
              <a:rPr lang="en-US" sz="1100" dirty="0" err="1">
                <a:solidFill>
                  <a:srgbClr val="000000"/>
                </a:solidFill>
              </a:rPr>
              <a:t>Nordea</a:t>
            </a:r>
            <a:r>
              <a:rPr lang="en-US" sz="1100" dirty="0">
                <a:solidFill>
                  <a:srgbClr val="000000"/>
                </a:solidFill>
              </a:rPr>
              <a:t> Bank and Visteon Corp. etc.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38766" y="3944624"/>
            <a:ext cx="4114800" cy="13716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Diageo Plc. (Retail)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 err="1">
                <a:solidFill>
                  <a:srgbClr val="000000"/>
                </a:solidFill>
              </a:rPr>
              <a:t>TrueBlue</a:t>
            </a:r>
            <a:r>
              <a:rPr lang="en-US" sz="1100" dirty="0">
                <a:solidFill>
                  <a:srgbClr val="000000"/>
                </a:solidFill>
              </a:rPr>
              <a:t> Inc. (Services)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United Airlines (Services)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Coca-Cola (Retail)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 err="1">
                <a:solidFill>
                  <a:srgbClr val="000000"/>
                </a:solidFill>
              </a:rPr>
              <a:t>Nordea</a:t>
            </a:r>
            <a:r>
              <a:rPr lang="en-US" sz="1100" dirty="0">
                <a:solidFill>
                  <a:srgbClr val="000000"/>
                </a:solidFill>
              </a:rPr>
              <a:t> Bank (Banking)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r>
              <a:rPr lang="en-US" sz="1100" dirty="0">
                <a:solidFill>
                  <a:srgbClr val="000000"/>
                </a:solidFill>
              </a:rPr>
              <a:t>Visteon Corp. (Manufacturing) </a:t>
            </a:r>
          </a:p>
          <a:p>
            <a:pPr marL="171450" indent="-171450" algn="just">
              <a:spcBef>
                <a:spcPts val="200"/>
              </a:spcBef>
              <a:spcAft>
                <a:spcPts val="200"/>
              </a:spcAft>
              <a:buClr>
                <a:schemeClr val="accent6"/>
              </a:buClr>
              <a:buFont typeface="Wingdings 3" pitchFamily="18" charset="2"/>
              <a:buChar char=""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6" name="Rectangle 4"/>
          <p:cNvSpPr/>
          <p:nvPr/>
        </p:nvSpPr>
        <p:spPr>
          <a:xfrm>
            <a:off x="352674" y="3639829"/>
            <a:ext cx="2286000" cy="304794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04794">
                <a:moveTo>
                  <a:pt x="0" y="0"/>
                </a:moveTo>
                <a:lnTo>
                  <a:pt x="1953491" y="0"/>
                </a:lnTo>
                <a:lnTo>
                  <a:pt x="2286000" y="304794"/>
                </a:lnTo>
                <a:lnTo>
                  <a:pt x="0" y="30479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Experience</a:t>
            </a:r>
            <a:endParaRPr lang="en-US" sz="1400" b="1" dirty="0">
              <a:cs typeface="Arial" pitchFamily="34" charset="0"/>
            </a:endParaRPr>
          </a:p>
        </p:txBody>
      </p:sp>
      <p:sp>
        <p:nvSpPr>
          <p:cNvPr id="27" name="Rectangle 4"/>
          <p:cNvSpPr/>
          <p:nvPr/>
        </p:nvSpPr>
        <p:spPr>
          <a:xfrm>
            <a:off x="4738766" y="3657600"/>
            <a:ext cx="2286000" cy="304794"/>
          </a:xfrm>
          <a:custGeom>
            <a:avLst/>
            <a:gdLst>
              <a:gd name="connsiteX0" fmla="*/ 0 w 2286000"/>
              <a:gd name="connsiteY0" fmla="*/ 0 h 304794"/>
              <a:gd name="connsiteX1" fmla="*/ 2286000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  <a:gd name="connsiteX0" fmla="*/ 0 w 2286000"/>
              <a:gd name="connsiteY0" fmla="*/ 0 h 304794"/>
              <a:gd name="connsiteX1" fmla="*/ 1953491 w 2286000"/>
              <a:gd name="connsiteY1" fmla="*/ 0 h 304794"/>
              <a:gd name="connsiteX2" fmla="*/ 2286000 w 2286000"/>
              <a:gd name="connsiteY2" fmla="*/ 304794 h 304794"/>
              <a:gd name="connsiteX3" fmla="*/ 0 w 2286000"/>
              <a:gd name="connsiteY3" fmla="*/ 304794 h 304794"/>
              <a:gd name="connsiteX4" fmla="*/ 0 w 2286000"/>
              <a:gd name="connsiteY4" fmla="*/ 0 h 30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304794">
                <a:moveTo>
                  <a:pt x="0" y="0"/>
                </a:moveTo>
                <a:lnTo>
                  <a:pt x="1953491" y="0"/>
                </a:lnTo>
                <a:lnTo>
                  <a:pt x="2286000" y="304794"/>
                </a:lnTo>
                <a:lnTo>
                  <a:pt x="0" y="3047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cs typeface="Arial" pitchFamily="34" charset="0"/>
              </a:rPr>
              <a:t>Key Clients</a:t>
            </a:r>
            <a:endParaRPr lang="en-US" sz="1400" b="1" dirty="0">
              <a:cs typeface="Arial" pitchFamily="34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766" y="1450304"/>
            <a:ext cx="1920240" cy="19371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956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Trianz-2015v3">
      <a:dk1>
        <a:sysClr val="windowText" lastClr="000000"/>
      </a:dk1>
      <a:lt1>
        <a:sysClr val="window" lastClr="FFFFFF"/>
      </a:lt1>
      <a:dk2>
        <a:srgbClr val="20505F"/>
      </a:dk2>
      <a:lt2>
        <a:srgbClr val="D6EEF5"/>
      </a:lt2>
      <a:accent1>
        <a:srgbClr val="2C95B5"/>
      </a:accent1>
      <a:accent2>
        <a:srgbClr val="106470"/>
      </a:accent2>
      <a:accent3>
        <a:srgbClr val="20505F"/>
      </a:accent3>
      <a:accent4>
        <a:srgbClr val="00B4EA"/>
      </a:accent4>
      <a:accent5>
        <a:srgbClr val="E16F20"/>
      </a:accent5>
      <a:accent6>
        <a:srgbClr val="C05217"/>
      </a:accent6>
      <a:hlink>
        <a:srgbClr val="E55302"/>
      </a:hlink>
      <a:folHlink>
        <a:srgbClr val="E55302"/>
      </a:folHlink>
    </a:clrScheme>
    <a:fontScheme name="Trianz-2014">
      <a:majorFont>
        <a:latin typeface="Segoe UI Semilight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2214</TotalTime>
  <Words>292</Words>
  <Application>Microsoft Office PowerPoint</Application>
  <PresentationFormat>On-screen Show (4:3)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Segoe UI</vt:lpstr>
      <vt:lpstr>Segoe UI Semilight</vt:lpstr>
      <vt:lpstr>Webdings</vt:lpstr>
      <vt:lpstr>Wingdings 3</vt:lpstr>
      <vt:lpstr>1_Office Theme</vt:lpstr>
      <vt:lpstr>&lt;Name&gt; – &lt;Designation&gt;</vt:lpstr>
      <vt:lpstr>Venkata Dakshina Murthy Attili – Architect (Sample)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Optimization with Digital Roadmap Gain Market Share and Time to Market</dc:title>
  <dc:creator>Prashant.Bhavaraju@trianz.com</dc:creator>
  <cp:lastModifiedBy>Ramesh Chandra vadlamani</cp:lastModifiedBy>
  <cp:revision>505</cp:revision>
  <dcterms:created xsi:type="dcterms:W3CDTF">2015-10-15T14:18:46Z</dcterms:created>
  <dcterms:modified xsi:type="dcterms:W3CDTF">2016-08-29T07:29:12Z</dcterms:modified>
</cp:coreProperties>
</file>