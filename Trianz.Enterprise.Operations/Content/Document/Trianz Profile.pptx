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44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60"/>
  </p:normalViewPr>
  <p:slideViewPr>
    <p:cSldViewPr snapToGrid="0">
      <p:cViewPr varScale="1">
        <p:scale>
          <a:sx n="67" d="100"/>
          <a:sy n="67" d="100"/>
        </p:scale>
        <p:origin x="4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ADADE-0D97-4A9D-B075-87A28905630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2955B5-8880-4D50-8C1D-191860CFD207}">
      <dgm:prSet phldrT="[Text]" custT="1"/>
      <dgm:spPr/>
      <dgm:t>
        <a:bodyPr anchor="ctr"/>
        <a:lstStyle/>
        <a:p>
          <a:pPr>
            <a:lnSpc>
              <a:spcPct val="100000"/>
            </a:lnSpc>
          </a:pPr>
          <a:r>
            <a:rPr lang="en-US" sz="1200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Ram Prasad </a:t>
          </a:r>
          <a:r>
            <a:rPr lang="en-US" sz="1200" kern="1200" dirty="0" err="1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Hachooli</a:t>
          </a:r>
          <a:r>
            <a:rPr lang="en-US" sz="1200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 currently working as a Technical Architect with various domains such as  Healthcare &amp; Manufacturing industry  for Implementing  Microsoft Office 365 with Power Platform </a:t>
          </a:r>
        </a:p>
      </dgm:t>
    </dgm:pt>
    <dgm:pt modelId="{9239EEF1-10B5-44A1-B4B0-125523C45331}" type="parTrans" cxnId="{378581AD-62CD-4D71-9D5A-0CA4F3161C59}">
      <dgm:prSet/>
      <dgm:spPr/>
      <dgm:t>
        <a:bodyPr/>
        <a:lstStyle/>
        <a:p>
          <a:endParaRPr lang="en-US"/>
        </a:p>
      </dgm:t>
    </dgm:pt>
    <dgm:pt modelId="{CDAA13D3-7E18-43CF-AA42-B5D36F68D669}" type="sibTrans" cxnId="{378581AD-62CD-4D71-9D5A-0CA4F3161C59}">
      <dgm:prSet/>
      <dgm:spPr/>
      <dgm:t>
        <a:bodyPr/>
        <a:lstStyle/>
        <a:p>
          <a:endParaRPr lang="en-US"/>
        </a:p>
      </dgm:t>
    </dgm:pt>
    <dgm:pt modelId="{A89029EE-6E89-4FBD-90A1-81BF54A281BD}">
      <dgm:prSet phldrT="[Text]" custT="1"/>
      <dgm:spPr/>
      <dgm:t>
        <a:bodyPr anchor="ctr"/>
        <a:lstStyle/>
        <a:p>
          <a:pPr>
            <a:lnSpc>
              <a:spcPct val="100000"/>
            </a:lnSpc>
          </a:pPr>
          <a:r>
            <a:rPr lang="en-US" sz="1200" kern="1200" dirty="0">
              <a:solidFill>
                <a:srgbClr val="FFFFFF"/>
              </a:solidFill>
              <a:latin typeface="+mj-lt"/>
              <a:ea typeface="+mn-ea"/>
              <a:cs typeface="+mn-cs"/>
            </a:rPr>
            <a:t>Expertise in handling databases and collaboration with Cross functional teams &amp;  Worked on RDBMS Databases such as MS SQL, Oracle</a:t>
          </a:r>
          <a:endParaRPr lang="en-US" sz="1200" kern="1200" dirty="0">
            <a:latin typeface="+mj-lt"/>
          </a:endParaRPr>
        </a:p>
      </dgm:t>
    </dgm:pt>
    <dgm:pt modelId="{768B4A0D-2421-47F3-952F-5BE8D6E49800}" type="parTrans" cxnId="{E90C6002-83D2-4A08-B735-A483FD1090EE}">
      <dgm:prSet/>
      <dgm:spPr/>
      <dgm:t>
        <a:bodyPr/>
        <a:lstStyle/>
        <a:p>
          <a:endParaRPr lang="en-US"/>
        </a:p>
      </dgm:t>
    </dgm:pt>
    <dgm:pt modelId="{C9124E9D-7FC6-4EC7-8E0C-36766E43D4D1}" type="sibTrans" cxnId="{E90C6002-83D2-4A08-B735-A483FD1090EE}">
      <dgm:prSet/>
      <dgm:spPr/>
      <dgm:t>
        <a:bodyPr/>
        <a:lstStyle/>
        <a:p>
          <a:endParaRPr lang="en-US"/>
        </a:p>
      </dgm:t>
    </dgm:pt>
    <dgm:pt modelId="{62FC001A-61F7-469C-AC89-4DA974A6E49C}">
      <dgm:prSet phldrT="[Text]" custT="1"/>
      <dgm:spPr/>
      <dgm:t>
        <a:bodyPr anchor="ctr"/>
        <a:lstStyle/>
        <a:p>
          <a:pPr>
            <a:lnSpc>
              <a:spcPct val="100000"/>
            </a:lnSpc>
          </a:pPr>
          <a:r>
            <a:rPr lang="en-US" sz="1200" dirty="0">
              <a:solidFill>
                <a:schemeClr val="bg2"/>
              </a:solidFill>
              <a:latin typeface="+mj-lt"/>
            </a:rPr>
            <a:t>Expertise skills on M365, SharePoint, Azure , Dotnet &amp; effective maintaining the project within the scope and budget</a:t>
          </a:r>
        </a:p>
      </dgm:t>
    </dgm:pt>
    <dgm:pt modelId="{5D2B7A95-EFBB-41CF-B6D5-744EFCB95AA0}" type="sibTrans" cxnId="{AA247637-51A5-46E1-ADD9-B490522D1127}">
      <dgm:prSet/>
      <dgm:spPr/>
      <dgm:t>
        <a:bodyPr/>
        <a:lstStyle/>
        <a:p>
          <a:endParaRPr lang="en-US"/>
        </a:p>
      </dgm:t>
    </dgm:pt>
    <dgm:pt modelId="{3A07F171-BFAB-4533-B9F0-F2A78C330DFE}" type="parTrans" cxnId="{AA247637-51A5-46E1-ADD9-B490522D1127}">
      <dgm:prSet/>
      <dgm:spPr/>
      <dgm:t>
        <a:bodyPr/>
        <a:lstStyle/>
        <a:p>
          <a:endParaRPr lang="en-US"/>
        </a:p>
      </dgm:t>
    </dgm:pt>
    <dgm:pt modelId="{DBC66852-2637-470F-AAE0-B17E6EB2401F}" type="pres">
      <dgm:prSet presAssocID="{FEBADADE-0D97-4A9D-B075-87A28905630A}" presName="vert0" presStyleCnt="0">
        <dgm:presLayoutVars>
          <dgm:dir/>
          <dgm:animOne val="branch"/>
          <dgm:animLvl val="lvl"/>
        </dgm:presLayoutVars>
      </dgm:prSet>
      <dgm:spPr/>
    </dgm:pt>
    <dgm:pt modelId="{6E328DE9-53DA-423E-809E-97E04A7B3348}" type="pres">
      <dgm:prSet presAssocID="{C32955B5-8880-4D50-8C1D-191860CFD207}" presName="thickLine" presStyleLbl="alignNode1" presStyleIdx="0" presStyleCnt="3"/>
      <dgm:spPr/>
    </dgm:pt>
    <dgm:pt modelId="{FF90BE76-C73E-4E2C-99DA-79B91C3CF9FE}" type="pres">
      <dgm:prSet presAssocID="{C32955B5-8880-4D50-8C1D-191860CFD207}" presName="horz1" presStyleCnt="0"/>
      <dgm:spPr/>
    </dgm:pt>
    <dgm:pt modelId="{E7CFAD34-C68D-41B1-AB5A-A2BA5D211B1C}" type="pres">
      <dgm:prSet presAssocID="{C32955B5-8880-4D50-8C1D-191860CFD207}" presName="tx1" presStyleLbl="revTx" presStyleIdx="0" presStyleCnt="3" custScaleY="85769" custLinFactNeighborY="4052"/>
      <dgm:spPr/>
    </dgm:pt>
    <dgm:pt modelId="{166D1535-C8F6-4FEC-8B73-4446C6A074C6}" type="pres">
      <dgm:prSet presAssocID="{C32955B5-8880-4D50-8C1D-191860CFD207}" presName="vert1" presStyleCnt="0"/>
      <dgm:spPr/>
    </dgm:pt>
    <dgm:pt modelId="{1DE38BD6-A5DB-4F73-A9A5-1940455AE43D}" type="pres">
      <dgm:prSet presAssocID="{62FC001A-61F7-469C-AC89-4DA974A6E49C}" presName="thickLine" presStyleLbl="alignNode1" presStyleIdx="1" presStyleCnt="3" custLinFactNeighborY="9009"/>
      <dgm:spPr/>
    </dgm:pt>
    <dgm:pt modelId="{1AC6689D-1D95-4700-AE54-98268EBD90EE}" type="pres">
      <dgm:prSet presAssocID="{62FC001A-61F7-469C-AC89-4DA974A6E49C}" presName="horz1" presStyleCnt="0"/>
      <dgm:spPr/>
    </dgm:pt>
    <dgm:pt modelId="{06F39CCB-B6C0-495D-A7BF-7DB9EC033561}" type="pres">
      <dgm:prSet presAssocID="{62FC001A-61F7-469C-AC89-4DA974A6E49C}" presName="tx1" presStyleLbl="revTx" presStyleIdx="1" presStyleCnt="3" custScaleY="78755" custLinFactNeighborY="8104"/>
      <dgm:spPr/>
    </dgm:pt>
    <dgm:pt modelId="{CB3C54CD-75C2-404B-ACB7-3127A2180AF3}" type="pres">
      <dgm:prSet presAssocID="{62FC001A-61F7-469C-AC89-4DA974A6E49C}" presName="vert1" presStyleCnt="0"/>
      <dgm:spPr/>
    </dgm:pt>
    <dgm:pt modelId="{631A9A15-D00F-42B9-862D-A39C70AE4380}" type="pres">
      <dgm:prSet presAssocID="{A89029EE-6E89-4FBD-90A1-81BF54A281BD}" presName="thickLine" presStyleLbl="alignNode1" presStyleIdx="2" presStyleCnt="3" custLinFactNeighborY="15198"/>
      <dgm:spPr/>
    </dgm:pt>
    <dgm:pt modelId="{A732EA45-1A4B-4115-9B18-6E4F257B8487}" type="pres">
      <dgm:prSet presAssocID="{A89029EE-6E89-4FBD-90A1-81BF54A281BD}" presName="horz1" presStyleCnt="0"/>
      <dgm:spPr/>
    </dgm:pt>
    <dgm:pt modelId="{3B51234B-5C62-4973-828F-3693067A0B2F}" type="pres">
      <dgm:prSet presAssocID="{A89029EE-6E89-4FBD-90A1-81BF54A281BD}" presName="tx1" presStyleLbl="revTx" presStyleIdx="2" presStyleCnt="3" custAng="0" custScaleY="55550" custLinFactNeighborY="19139"/>
      <dgm:spPr/>
    </dgm:pt>
    <dgm:pt modelId="{DE3D06FE-378F-497D-B383-0EA7DD917F0E}" type="pres">
      <dgm:prSet presAssocID="{A89029EE-6E89-4FBD-90A1-81BF54A281BD}" presName="vert1" presStyleCnt="0"/>
      <dgm:spPr/>
    </dgm:pt>
  </dgm:ptLst>
  <dgm:cxnLst>
    <dgm:cxn modelId="{E90C6002-83D2-4A08-B735-A483FD1090EE}" srcId="{FEBADADE-0D97-4A9D-B075-87A28905630A}" destId="{A89029EE-6E89-4FBD-90A1-81BF54A281BD}" srcOrd="2" destOrd="0" parTransId="{768B4A0D-2421-47F3-952F-5BE8D6E49800}" sibTransId="{C9124E9D-7FC6-4EC7-8E0C-36766E43D4D1}"/>
    <dgm:cxn modelId="{78559E04-5CEF-4C43-9BD7-E44D56DC9B34}" type="presOf" srcId="{FEBADADE-0D97-4A9D-B075-87A28905630A}" destId="{DBC66852-2637-470F-AAE0-B17E6EB2401F}" srcOrd="0" destOrd="0" presId="urn:microsoft.com/office/officeart/2008/layout/LinedList"/>
    <dgm:cxn modelId="{AA247637-51A5-46E1-ADD9-B490522D1127}" srcId="{FEBADADE-0D97-4A9D-B075-87A28905630A}" destId="{62FC001A-61F7-469C-AC89-4DA974A6E49C}" srcOrd="1" destOrd="0" parTransId="{3A07F171-BFAB-4533-B9F0-F2A78C330DFE}" sibTransId="{5D2B7A95-EFBB-41CF-B6D5-744EFCB95AA0}"/>
    <dgm:cxn modelId="{959FA999-D50E-4874-9900-7C709FCED143}" type="presOf" srcId="{C32955B5-8880-4D50-8C1D-191860CFD207}" destId="{E7CFAD34-C68D-41B1-AB5A-A2BA5D211B1C}" srcOrd="0" destOrd="0" presId="urn:microsoft.com/office/officeart/2008/layout/LinedList"/>
    <dgm:cxn modelId="{378581AD-62CD-4D71-9D5A-0CA4F3161C59}" srcId="{FEBADADE-0D97-4A9D-B075-87A28905630A}" destId="{C32955B5-8880-4D50-8C1D-191860CFD207}" srcOrd="0" destOrd="0" parTransId="{9239EEF1-10B5-44A1-B4B0-125523C45331}" sibTransId="{CDAA13D3-7E18-43CF-AA42-B5D36F68D669}"/>
    <dgm:cxn modelId="{F17FC4AF-6D55-4F62-BA54-A9F390BD044A}" type="presOf" srcId="{A89029EE-6E89-4FBD-90A1-81BF54A281BD}" destId="{3B51234B-5C62-4973-828F-3693067A0B2F}" srcOrd="0" destOrd="0" presId="urn:microsoft.com/office/officeart/2008/layout/LinedList"/>
    <dgm:cxn modelId="{0D6433E7-0FEB-44A7-89FD-9347EBF0BCCD}" type="presOf" srcId="{62FC001A-61F7-469C-AC89-4DA974A6E49C}" destId="{06F39CCB-B6C0-495D-A7BF-7DB9EC033561}" srcOrd="0" destOrd="0" presId="urn:microsoft.com/office/officeart/2008/layout/LinedList"/>
    <dgm:cxn modelId="{A98B7C75-2F0D-4B37-9D59-6B4D9EFACD3C}" type="presParOf" srcId="{DBC66852-2637-470F-AAE0-B17E6EB2401F}" destId="{6E328DE9-53DA-423E-809E-97E04A7B3348}" srcOrd="0" destOrd="0" presId="urn:microsoft.com/office/officeart/2008/layout/LinedList"/>
    <dgm:cxn modelId="{E79BFE9E-0507-4C6B-AEF2-76F318B16581}" type="presParOf" srcId="{DBC66852-2637-470F-AAE0-B17E6EB2401F}" destId="{FF90BE76-C73E-4E2C-99DA-79B91C3CF9FE}" srcOrd="1" destOrd="0" presId="urn:microsoft.com/office/officeart/2008/layout/LinedList"/>
    <dgm:cxn modelId="{C93CFE64-5844-491D-AD48-41A2B20FEF51}" type="presParOf" srcId="{FF90BE76-C73E-4E2C-99DA-79B91C3CF9FE}" destId="{E7CFAD34-C68D-41B1-AB5A-A2BA5D211B1C}" srcOrd="0" destOrd="0" presId="urn:microsoft.com/office/officeart/2008/layout/LinedList"/>
    <dgm:cxn modelId="{DC0C86F6-D819-4CEF-86E0-972D35197F04}" type="presParOf" srcId="{FF90BE76-C73E-4E2C-99DA-79B91C3CF9FE}" destId="{166D1535-C8F6-4FEC-8B73-4446C6A074C6}" srcOrd="1" destOrd="0" presId="urn:microsoft.com/office/officeart/2008/layout/LinedList"/>
    <dgm:cxn modelId="{EC6706B3-3A7C-4745-BAB4-C34A4F8D1191}" type="presParOf" srcId="{DBC66852-2637-470F-AAE0-B17E6EB2401F}" destId="{1DE38BD6-A5DB-4F73-A9A5-1940455AE43D}" srcOrd="2" destOrd="0" presId="urn:microsoft.com/office/officeart/2008/layout/LinedList"/>
    <dgm:cxn modelId="{7FF46272-E117-47CD-A565-9238FDCC6B1D}" type="presParOf" srcId="{DBC66852-2637-470F-AAE0-B17E6EB2401F}" destId="{1AC6689D-1D95-4700-AE54-98268EBD90EE}" srcOrd="3" destOrd="0" presId="urn:microsoft.com/office/officeart/2008/layout/LinedList"/>
    <dgm:cxn modelId="{A899628D-4342-4FD9-823E-356A6D704722}" type="presParOf" srcId="{1AC6689D-1D95-4700-AE54-98268EBD90EE}" destId="{06F39CCB-B6C0-495D-A7BF-7DB9EC033561}" srcOrd="0" destOrd="0" presId="urn:microsoft.com/office/officeart/2008/layout/LinedList"/>
    <dgm:cxn modelId="{5176AA53-2C37-4A1B-8173-6D703616BBC5}" type="presParOf" srcId="{1AC6689D-1D95-4700-AE54-98268EBD90EE}" destId="{CB3C54CD-75C2-404B-ACB7-3127A2180AF3}" srcOrd="1" destOrd="0" presId="urn:microsoft.com/office/officeart/2008/layout/LinedList"/>
    <dgm:cxn modelId="{313018AE-E341-4E17-8248-EF5F8C218A4B}" type="presParOf" srcId="{DBC66852-2637-470F-AAE0-B17E6EB2401F}" destId="{631A9A15-D00F-42B9-862D-A39C70AE4380}" srcOrd="4" destOrd="0" presId="urn:microsoft.com/office/officeart/2008/layout/LinedList"/>
    <dgm:cxn modelId="{2D33971E-511F-4F99-9E73-DA171893F57A}" type="presParOf" srcId="{DBC66852-2637-470F-AAE0-B17E6EB2401F}" destId="{A732EA45-1A4B-4115-9B18-6E4F257B8487}" srcOrd="5" destOrd="0" presId="urn:microsoft.com/office/officeart/2008/layout/LinedList"/>
    <dgm:cxn modelId="{2776AB6F-391C-4048-BA35-3FAFD08FF90D}" type="presParOf" srcId="{A732EA45-1A4B-4115-9B18-6E4F257B8487}" destId="{3B51234B-5C62-4973-828F-3693067A0B2F}" srcOrd="0" destOrd="0" presId="urn:microsoft.com/office/officeart/2008/layout/LinedList"/>
    <dgm:cxn modelId="{AF01FBA5-295C-4E37-9F67-308DF91B156B}" type="presParOf" srcId="{A732EA45-1A4B-4115-9B18-6E4F257B8487}" destId="{DE3D06FE-378F-497D-B383-0EA7DD917F0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28DE9-53DA-423E-809E-97E04A7B3348}">
      <dsp:nvSpPr>
        <dsp:cNvPr id="0" name=""/>
        <dsp:cNvSpPr/>
      </dsp:nvSpPr>
      <dsp:spPr>
        <a:xfrm>
          <a:off x="0" y="1277"/>
          <a:ext cx="32924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FAD34-C68D-41B1-AB5A-A2BA5D211B1C}">
      <dsp:nvSpPr>
        <dsp:cNvPr id="0" name=""/>
        <dsp:cNvSpPr/>
      </dsp:nvSpPr>
      <dsp:spPr>
        <a:xfrm>
          <a:off x="0" y="74655"/>
          <a:ext cx="3292475" cy="155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Ram Prasad </a:t>
          </a:r>
          <a:r>
            <a:rPr lang="en-US" sz="1200" kern="1200" dirty="0" err="1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Hachooli</a:t>
          </a:r>
          <a:r>
            <a:rPr lang="en-US" sz="1200" kern="1200" dirty="0">
              <a:solidFill>
                <a:srgbClr val="FFFFFF"/>
              </a:solidFill>
              <a:latin typeface="Arial" panose="020B0604020202020204"/>
              <a:ea typeface="+mn-ea"/>
              <a:cs typeface="+mn-cs"/>
            </a:rPr>
            <a:t> currently working as a Technical Architect with various domains such as  Healthcare &amp; Manufacturing industry  for Implementing  Microsoft Office 365 with Power Platform </a:t>
          </a:r>
        </a:p>
      </dsp:txBody>
      <dsp:txXfrm>
        <a:off x="0" y="74655"/>
        <a:ext cx="3292475" cy="1553197"/>
      </dsp:txXfrm>
    </dsp:sp>
    <dsp:sp modelId="{1DE38BD6-A5DB-4F73-A9A5-1940455AE43D}">
      <dsp:nvSpPr>
        <dsp:cNvPr id="0" name=""/>
        <dsp:cNvSpPr/>
      </dsp:nvSpPr>
      <dsp:spPr>
        <a:xfrm>
          <a:off x="0" y="1682959"/>
          <a:ext cx="32924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39CCB-B6C0-495D-A7BF-7DB9EC033561}">
      <dsp:nvSpPr>
        <dsp:cNvPr id="0" name=""/>
        <dsp:cNvSpPr/>
      </dsp:nvSpPr>
      <dsp:spPr>
        <a:xfrm>
          <a:off x="0" y="1701230"/>
          <a:ext cx="3292475" cy="1426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2"/>
              </a:solidFill>
              <a:latin typeface="+mj-lt"/>
            </a:rPr>
            <a:t>Expertise skills on M365, SharePoint, Azure , Dotnet &amp; effective maintaining the project within the scope and budget</a:t>
          </a:r>
        </a:p>
      </dsp:txBody>
      <dsp:txXfrm>
        <a:off x="0" y="1701230"/>
        <a:ext cx="3292475" cy="1426180"/>
      </dsp:txXfrm>
    </dsp:sp>
    <dsp:sp modelId="{631A9A15-D00F-42B9-862D-A39C70AE4380}">
      <dsp:nvSpPr>
        <dsp:cNvPr id="0" name=""/>
        <dsp:cNvSpPr/>
      </dsp:nvSpPr>
      <dsp:spPr>
        <a:xfrm>
          <a:off x="0" y="3133540"/>
          <a:ext cx="32924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1234B-5C62-4973-828F-3693067A0B2F}">
      <dsp:nvSpPr>
        <dsp:cNvPr id="0" name=""/>
        <dsp:cNvSpPr/>
      </dsp:nvSpPr>
      <dsp:spPr>
        <a:xfrm>
          <a:off x="0" y="2981931"/>
          <a:ext cx="3292475" cy="1005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FFFFFF"/>
              </a:solidFill>
              <a:latin typeface="+mj-lt"/>
              <a:ea typeface="+mn-ea"/>
              <a:cs typeface="+mn-cs"/>
            </a:rPr>
            <a:t>Expertise in handling databases and collaboration with Cross functional teams &amp;  Worked on RDBMS Databases such as MS SQL, Oracle</a:t>
          </a:r>
          <a:endParaRPr lang="en-US" sz="1200" kern="1200" dirty="0">
            <a:latin typeface="+mj-lt"/>
          </a:endParaRPr>
        </a:p>
      </dsp:txBody>
      <dsp:txXfrm>
        <a:off x="0" y="2981931"/>
        <a:ext cx="3292475" cy="10059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2D4DA-10D6-4365-89A4-D3DF17A027D4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9448B-9830-4531-9ECF-59F0E9C2D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5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625" indent="-174625">
              <a:spcAft>
                <a:spcPts val="200"/>
              </a:spcAft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6E548-12C7-4B25-A4D9-51A7AE99D7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226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5080"/>
            <a:ext cx="12252960" cy="69494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720" y="1731550"/>
            <a:ext cx="5760720" cy="1920240"/>
          </a:xfrm>
        </p:spPr>
        <p:txBody>
          <a:bodyPr anchor="b">
            <a:normAutofit/>
          </a:bodyPr>
          <a:lstStyle>
            <a:lvl1pPr algn="l">
              <a:defRPr sz="36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719" y="3873190"/>
            <a:ext cx="5760720" cy="1002378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0" y="6612198"/>
            <a:ext cx="1225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CLOUD · ANALYTICS · DIGITAL · INFRASTRUCTURE · SECURITY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1" y="426028"/>
            <a:ext cx="203027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8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541" y="1272026"/>
            <a:ext cx="11031294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818352" y="1436618"/>
            <a:ext cx="0" cy="49377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822960" y="2104490"/>
            <a:ext cx="11029875" cy="41148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9" name="Freeform 38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Connector 4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>
            <a:stCxn id="39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81" y="363847"/>
            <a:ext cx="762000" cy="733743"/>
          </a:xfrm>
          <a:prstGeom prst="rect">
            <a:avLst/>
          </a:prstGeom>
        </p:spPr>
      </p:pic>
      <p:sp>
        <p:nvSpPr>
          <p:cNvPr id="23" name="Rectangle 22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4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16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822960" y="1271377"/>
            <a:ext cx="11029875" cy="494791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9" name="Freeform 38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Connector 4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>
            <a:stCxn id="39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81" y="363847"/>
            <a:ext cx="762000" cy="733743"/>
          </a:xfrm>
          <a:prstGeom prst="rect">
            <a:avLst/>
          </a:prstGeom>
        </p:spPr>
      </p:pic>
      <p:sp>
        <p:nvSpPr>
          <p:cNvPr id="23" name="Rectangle 22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4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5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872" y="1272026"/>
            <a:ext cx="7405963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4447082" y="1436618"/>
            <a:ext cx="0" cy="49377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446872" y="2104490"/>
            <a:ext cx="7405963" cy="41148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9" name="Freeform 38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Connector 4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>
            <a:stCxn id="39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81" y="363847"/>
            <a:ext cx="762000" cy="733743"/>
          </a:xfrm>
          <a:prstGeom prst="rect">
            <a:avLst/>
          </a:prstGeom>
        </p:spPr>
      </p:pic>
      <p:sp>
        <p:nvSpPr>
          <p:cNvPr id="23" name="Rectangle 22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5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4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025" y="1272026"/>
            <a:ext cx="3291840" cy="1463040"/>
          </a:xfrm>
        </p:spPr>
        <p:txBody>
          <a:bodyPr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819234" y="1436618"/>
            <a:ext cx="0" cy="49377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446872" y="1272026"/>
            <a:ext cx="7405963" cy="4947264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9" name="Freeform 38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Connector 4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>
            <a:stCxn id="39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81" y="363847"/>
            <a:ext cx="762000" cy="733743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7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37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2791" y="1272026"/>
            <a:ext cx="5760043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6083375" y="1436618"/>
            <a:ext cx="0" cy="49377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6092791" y="2104490"/>
            <a:ext cx="5760043" cy="41148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9" name="Freeform 38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Connector 4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>
            <a:stCxn id="39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81" y="363847"/>
            <a:ext cx="762000" cy="733743"/>
          </a:xfrm>
          <a:prstGeom prst="rect">
            <a:avLst/>
          </a:prstGeom>
        </p:spPr>
      </p:pic>
      <p:sp>
        <p:nvSpPr>
          <p:cNvPr id="23" name="Rectangle 22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4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57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541" y="1272026"/>
            <a:ext cx="11031294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818352" y="1436618"/>
            <a:ext cx="0" cy="49377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822960" y="2104490"/>
            <a:ext cx="11029875" cy="41148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9" name="Freeform 38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Connector 4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>
            <a:stCxn id="39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3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822960" y="1271377"/>
            <a:ext cx="11029875" cy="494791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9" name="Freeform 38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Connector 4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>
            <a:stCxn id="39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7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84" y="1272026"/>
            <a:ext cx="11523651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329184" y="1436618"/>
            <a:ext cx="0" cy="49377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29184" y="2104490"/>
            <a:ext cx="11523651" cy="41148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667" y="363847"/>
            <a:ext cx="1639448" cy="733743"/>
          </a:xfrm>
          <a:prstGeom prst="rect">
            <a:avLst/>
          </a:prstGeom>
        </p:spPr>
      </p:pic>
      <p:cxnSp>
        <p:nvCxnSpPr>
          <p:cNvPr id="26" name="Straight Connector 25"/>
          <p:cNvCxnSpPr/>
          <p:nvPr userDrawn="1"/>
        </p:nvCxnSpPr>
        <p:spPr>
          <a:xfrm>
            <a:off x="0" y="6617208"/>
            <a:ext cx="82296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52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29184" y="1271377"/>
            <a:ext cx="11523651" cy="494791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667" y="363847"/>
            <a:ext cx="1639448" cy="733743"/>
          </a:xfrm>
          <a:prstGeom prst="rect">
            <a:avLst/>
          </a:prstGeom>
        </p:spPr>
      </p:pic>
      <p:cxnSp>
        <p:nvCxnSpPr>
          <p:cNvPr id="26" name="Straight Connector 25"/>
          <p:cNvCxnSpPr/>
          <p:nvPr userDrawn="1"/>
        </p:nvCxnSpPr>
        <p:spPr>
          <a:xfrm>
            <a:off x="0" y="6617208"/>
            <a:ext cx="82296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3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n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9" name="Freeform 38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Connector 4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>
            <a:stCxn id="39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81" y="363847"/>
            <a:ext cx="762000" cy="733743"/>
          </a:xfrm>
          <a:prstGeom prst="rect">
            <a:avLst/>
          </a:prstGeom>
        </p:spPr>
      </p:pic>
      <p:sp>
        <p:nvSpPr>
          <p:cNvPr id="23" name="Rectangle 22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4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43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9" name="Freeform 38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Connector 4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>
            <a:stCxn id="39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36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nk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617208"/>
            <a:ext cx="82296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2109030" y="6617208"/>
            <a:ext cx="101498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06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49" y="6570641"/>
            <a:ext cx="93134" cy="9313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667" y="363847"/>
            <a:ext cx="1639448" cy="73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16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9623"/>
            <a:ext cx="7406640" cy="685800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 rot="5400000">
            <a:off x="7315200" y="3314698"/>
            <a:ext cx="411480" cy="228600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9461" y="1211885"/>
            <a:ext cx="4133374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53035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7700427" y="1376477"/>
            <a:ext cx="0" cy="49377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7719461" y="2066532"/>
            <a:ext cx="4133374" cy="415275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7406640" y="6617206"/>
            <a:ext cx="48463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Oval 29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5" name="Freeform 34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6" name="Straight Connector 3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/>
          <p:cNvCxnSpPr>
            <a:stCxn id="35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81" y="363847"/>
            <a:ext cx="762000" cy="733743"/>
          </a:xfrm>
          <a:prstGeom prst="rect">
            <a:avLst/>
          </a:prstGeom>
        </p:spPr>
      </p:pic>
      <p:sp>
        <p:nvSpPr>
          <p:cNvPr id="24" name="Rectangle 23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8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82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841520" y="9623"/>
            <a:ext cx="7406640" cy="685800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4852892" y="6617206"/>
            <a:ext cx="74000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riangle 31"/>
          <p:cNvSpPr/>
          <p:nvPr userDrawn="1"/>
        </p:nvSpPr>
        <p:spPr>
          <a:xfrm rot="5400000">
            <a:off x="4751827" y="3314698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860" y="1143713"/>
            <a:ext cx="4133374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27432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317826" y="1308305"/>
            <a:ext cx="0" cy="49377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36860" y="1966673"/>
            <a:ext cx="4133374" cy="425261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6617208"/>
            <a:ext cx="82296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960120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riangle 31"/>
          <p:cNvSpPr/>
          <p:nvPr userDrawn="1"/>
        </p:nvSpPr>
        <p:spPr>
          <a:xfrm>
            <a:off x="1468965" y="881694"/>
            <a:ext cx="411480" cy="2286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8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69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/>
          <p:cNvCxnSpPr/>
          <p:nvPr userDrawn="1"/>
        </p:nvCxnSpPr>
        <p:spPr>
          <a:xfrm>
            <a:off x="4101395" y="6617208"/>
            <a:ext cx="8138160" cy="0"/>
          </a:xfrm>
          <a:prstGeom prst="line">
            <a:avLst/>
          </a:prstGeom>
          <a:ln>
            <a:solidFill>
              <a:srgbClr val="8989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1" y="9623"/>
            <a:ext cx="4114800" cy="685800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riangle 31"/>
          <p:cNvSpPr/>
          <p:nvPr userDrawn="1"/>
        </p:nvSpPr>
        <p:spPr>
          <a:xfrm rot="5400000">
            <a:off x="4009955" y="3676539"/>
            <a:ext cx="411480" cy="228600"/>
          </a:xfrm>
          <a:prstGeom prst="triangl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579" y="1272026"/>
            <a:ext cx="3291840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109692" y="6617208"/>
            <a:ext cx="2011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 userDrawn="1"/>
        </p:nvSpPr>
        <p:spPr>
          <a:xfrm>
            <a:off x="782111" y="6570641"/>
            <a:ext cx="93134" cy="93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2067354" y="6570641"/>
            <a:ext cx="93134" cy="93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11218164" y="6466331"/>
            <a:ext cx="301752" cy="30175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634579" y="1436618"/>
            <a:ext cx="0" cy="49377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635532" y="2104490"/>
            <a:ext cx="3291840" cy="41148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15074" y="1093359"/>
            <a:ext cx="0" cy="539496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 userDrawn="1"/>
        </p:nvGrpSpPr>
        <p:grpSpPr>
          <a:xfrm>
            <a:off x="415074" y="6434531"/>
            <a:ext cx="185840" cy="186558"/>
            <a:chOff x="618274" y="6429451"/>
            <a:chExt cx="185840" cy="186558"/>
          </a:xfrm>
        </p:grpSpPr>
        <p:sp>
          <p:nvSpPr>
            <p:cNvPr id="39" name="Freeform 38"/>
            <p:cNvSpPr>
              <a:spLocks noChangeAspect="1"/>
            </p:cNvSpPr>
            <p:nvPr userDrawn="1"/>
          </p:nvSpPr>
          <p:spPr>
            <a:xfrm>
              <a:off x="618274" y="6433129"/>
              <a:ext cx="171880" cy="182880"/>
            </a:xfrm>
            <a:custGeom>
              <a:avLst/>
              <a:gdLst>
                <a:gd name="connsiteX0" fmla="*/ 0 w 240019"/>
                <a:gd name="connsiteY0" fmla="*/ 0 h 255380"/>
                <a:gd name="connsiteX1" fmla="*/ 240019 w 240019"/>
                <a:gd name="connsiteY1" fmla="*/ 0 h 255380"/>
                <a:gd name="connsiteX2" fmla="*/ 240019 w 240019"/>
                <a:gd name="connsiteY2" fmla="*/ 255380 h 255380"/>
                <a:gd name="connsiteX3" fmla="*/ 137163 w 240019"/>
                <a:gd name="connsiteY3" fmla="*/ 255380 h 255380"/>
                <a:gd name="connsiteX4" fmla="*/ 0 w 240019"/>
                <a:gd name="connsiteY4" fmla="*/ 118217 h 255380"/>
                <a:gd name="connsiteX5" fmla="*/ 0 w 240019"/>
                <a:gd name="connsiteY5" fmla="*/ 0 h 255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019" h="255380">
                  <a:moveTo>
                    <a:pt x="0" y="0"/>
                  </a:moveTo>
                  <a:lnTo>
                    <a:pt x="240019" y="0"/>
                  </a:lnTo>
                  <a:lnTo>
                    <a:pt x="240019" y="255380"/>
                  </a:lnTo>
                  <a:lnTo>
                    <a:pt x="137163" y="255380"/>
                  </a:lnTo>
                  <a:cubicBezTo>
                    <a:pt x="61410" y="255380"/>
                    <a:pt x="0" y="193970"/>
                    <a:pt x="0" y="11821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Connector 45"/>
            <p:cNvCxnSpPr/>
            <p:nvPr userDrawn="1"/>
          </p:nvCxnSpPr>
          <p:spPr>
            <a:xfrm>
              <a:off x="621234" y="6433129"/>
              <a:ext cx="182880" cy="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>
            <a:xfrm rot="5400000">
              <a:off x="699028" y="6520891"/>
              <a:ext cx="182880" cy="0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>
            <a:stCxn id="39" idx="2"/>
          </p:cNvCxnSpPr>
          <p:nvPr userDrawn="1"/>
        </p:nvCxnSpPr>
        <p:spPr>
          <a:xfrm>
            <a:off x="586954" y="6621089"/>
            <a:ext cx="236006" cy="88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169" y="301751"/>
            <a:ext cx="1342666" cy="493776"/>
          </a:xfrm>
          <a:prstGeom prst="rect">
            <a:avLst/>
          </a:prstGeom>
        </p:spPr>
      </p:pic>
      <p:sp>
        <p:nvSpPr>
          <p:cNvPr id="23" name="Rectangle 22"/>
          <p:cNvSpPr/>
          <p:nvPr userDrawn="1"/>
        </p:nvSpPr>
        <p:spPr>
          <a:xfrm>
            <a:off x="1" y="-1"/>
            <a:ext cx="12252960" cy="109728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1468965" y="0"/>
            <a:ext cx="8641080" cy="1097280"/>
          </a:xfrm>
        </p:spPr>
        <p:txBody>
          <a:bodyPr>
            <a:noAutofit/>
          </a:bodyPr>
          <a:lstStyle>
            <a:lvl1pPr>
              <a:defRPr sz="32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81" y="363847"/>
            <a:ext cx="762000" cy="733743"/>
          </a:xfrm>
          <a:prstGeom prst="rect">
            <a:avLst/>
          </a:prstGeom>
        </p:spPr>
      </p:pic>
      <p:sp>
        <p:nvSpPr>
          <p:cNvPr id="25" name="Rectangle 24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sp>
        <p:nvSpPr>
          <p:cNvPr id="27" name="Slide Number Placeholder 5"/>
          <p:cNvSpPr txBox="1">
            <a:spLocks/>
          </p:cNvSpPr>
          <p:nvPr userDrawn="1"/>
        </p:nvSpPr>
        <p:spPr>
          <a:xfrm>
            <a:off x="11218164" y="644311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1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C71DFC-4EF5-484F-A514-102F122F538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16"/>
          <a:stretch/>
        </p:blipFill>
        <p:spPr>
          <a:xfrm>
            <a:off x="11256743" y="256454"/>
            <a:ext cx="606073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692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5080"/>
            <a:ext cx="12252960" cy="69494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0" y="6617208"/>
            <a:ext cx="8229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>
            <a:off x="2111408" y="6617208"/>
            <a:ext cx="10149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 userDrawn="1"/>
        </p:nvSpPr>
        <p:spPr>
          <a:xfrm>
            <a:off x="779469" y="6570641"/>
            <a:ext cx="93134" cy="93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/>
          <p:cNvSpPr/>
          <p:nvPr userDrawn="1"/>
        </p:nvSpPr>
        <p:spPr>
          <a:xfrm>
            <a:off x="2073179" y="6570641"/>
            <a:ext cx="93134" cy="93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5760720" y="1731550"/>
            <a:ext cx="5760720" cy="1920240"/>
          </a:xfr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5760719" y="3873190"/>
            <a:ext cx="5760720" cy="1002378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161" y="426028"/>
            <a:ext cx="203027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86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5080"/>
            <a:ext cx="12252960" cy="69494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256" y="2240361"/>
            <a:ext cx="5029200" cy="2468880"/>
          </a:xfrm>
        </p:spPr>
        <p:txBody>
          <a:bodyPr anchor="b">
            <a:normAutofit/>
          </a:bodyPr>
          <a:lstStyle>
            <a:lvl1pPr algn="ctr">
              <a:defRPr sz="4400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0" y="6617208"/>
            <a:ext cx="8229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>
            <a:off x="2111408" y="6617208"/>
            <a:ext cx="10149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 userDrawn="1"/>
        </p:nvSpPr>
        <p:spPr>
          <a:xfrm>
            <a:off x="779469" y="6570641"/>
            <a:ext cx="93134" cy="93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/>
          <p:cNvSpPr/>
          <p:nvPr userDrawn="1"/>
        </p:nvSpPr>
        <p:spPr>
          <a:xfrm>
            <a:off x="2073179" y="6570641"/>
            <a:ext cx="93134" cy="93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4710724"/>
            <a:ext cx="12188952" cy="38060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8671" y="6510257"/>
            <a:ext cx="12801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 Narrow" panose="020B0606020202030204" pitchFamily="34" charset="0"/>
              </a:rPr>
              <a:t>TRIANZ CONFIDENTIAL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341" y="426028"/>
            <a:ext cx="203027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81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71DFC-4EF5-484F-A514-102F122F538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19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3.wdp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11" Type="http://schemas.microsoft.com/office/2007/relationships/hdphoto" Target="../media/hdphoto2.wdp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1.xml"/><Relationship Id="rId9" Type="http://schemas.microsoft.com/office/2007/relationships/hdphoto" Target="../media/hdphoto1.wdp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12831" y="1272026"/>
            <a:ext cx="2313587" cy="82296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Ram PRASAD HACHOOLI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4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Technical ARCHITECT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18635368"/>
              </p:ext>
            </p:extLst>
          </p:nvPr>
        </p:nvGraphicFramePr>
        <p:xfrm>
          <a:off x="616527" y="2349621"/>
          <a:ext cx="3292475" cy="3987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68965" y="0"/>
            <a:ext cx="10338722" cy="1097280"/>
          </a:xfrm>
        </p:spPr>
        <p:txBody>
          <a:bodyPr/>
          <a:lstStyle/>
          <a:p>
            <a:r>
              <a:rPr lang="en-US" sz="2400" dirty="0"/>
              <a:t>TECHNICAL ARCHITECT – APPLICATION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6534" y="1501422"/>
            <a:ext cx="7563556" cy="1938992"/>
          </a:xfrm>
          <a:prstGeom prst="roundRect">
            <a:avLst>
              <a:gd name="adj" fmla="val 3567"/>
            </a:avLst>
          </a:prstGeom>
          <a:noFill/>
          <a:ln>
            <a:solidFill>
              <a:schemeClr val="accent3"/>
            </a:solidFill>
            <a:prstDash val="sysDot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6344356" y="1272026"/>
            <a:ext cx="3747911" cy="364863"/>
          </a:xfrm>
          <a:prstGeom prst="roundRect">
            <a:avLst>
              <a:gd name="adj" fmla="val 5000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Work Experience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2DE146-0304-467F-99C6-7BE684E5AE7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954" y="1304098"/>
            <a:ext cx="280065" cy="28006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36533" y="4111549"/>
            <a:ext cx="4526845" cy="2336800"/>
          </a:xfrm>
          <a:prstGeom prst="roundRect">
            <a:avLst>
              <a:gd name="adj" fmla="val 3567"/>
            </a:avLst>
          </a:prstGeom>
          <a:noFill/>
          <a:ln>
            <a:solidFill>
              <a:schemeClr val="accent5"/>
            </a:solidFill>
            <a:prstDash val="sysDot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5405911" y="3925984"/>
            <a:ext cx="2506134" cy="364863"/>
          </a:xfrm>
          <a:prstGeom prst="roundRect">
            <a:avLst>
              <a:gd name="adj" fmla="val 50000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Skill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4978" y="4111549"/>
            <a:ext cx="2935111" cy="2336800"/>
          </a:xfrm>
          <a:prstGeom prst="roundRect">
            <a:avLst>
              <a:gd name="adj" fmla="val 3567"/>
            </a:avLst>
          </a:prstGeom>
          <a:noFill/>
          <a:ln>
            <a:solidFill>
              <a:schemeClr val="accent2"/>
            </a:solidFill>
            <a:prstDash val="sysDot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9403644" y="3925983"/>
            <a:ext cx="2257778" cy="36486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6A044E9-0D08-4C8C-8113-3B054AB3E3A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55" y="3940406"/>
            <a:ext cx="280067" cy="280067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4436531" y="4476406"/>
            <a:ext cx="4385877" cy="1813145"/>
            <a:chOff x="3890685" y="4914371"/>
            <a:chExt cx="3326978" cy="1293922"/>
          </a:xfrm>
          <a:noFill/>
        </p:grpSpPr>
        <p:sp>
          <p:nvSpPr>
            <p:cNvPr id="21" name="Freeform 20"/>
            <p:cNvSpPr/>
            <p:nvPr/>
          </p:nvSpPr>
          <p:spPr>
            <a:xfrm>
              <a:off x="3890685" y="4914371"/>
              <a:ext cx="1126503" cy="591925"/>
            </a:xfrm>
            <a:prstGeom prst="round2Diag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>
                  <a:solidFill>
                    <a:schemeClr val="accent6"/>
                  </a:solidFill>
                </a:rPr>
                <a:t>Microsoft Power Platform Suite </a:t>
              </a:r>
              <a:r>
                <a:rPr lang="en-US" sz="900" dirty="0">
                  <a:solidFill>
                    <a:schemeClr val="accent6"/>
                  </a:solidFill>
                </a:rPr>
                <a:t>– Power apps, Power Automate, Virtual Agent, Power BI &amp; Power Automate Desktop </a:t>
              </a:r>
            </a:p>
          </p:txBody>
        </p:sp>
        <p:sp>
          <p:nvSpPr>
            <p:cNvPr id="22" name="Freeform 21"/>
            <p:cNvSpPr/>
            <p:nvPr/>
          </p:nvSpPr>
          <p:spPr>
            <a:xfrm>
              <a:off x="6261090" y="4923416"/>
              <a:ext cx="956573" cy="551486"/>
            </a:xfrm>
            <a:prstGeom prst="round2Diag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>
                  <a:solidFill>
                    <a:schemeClr val="accent6"/>
                  </a:solidFill>
                </a:rPr>
                <a:t>Nintex RPA with Office 365</a:t>
              </a:r>
            </a:p>
          </p:txBody>
        </p:sp>
        <p:sp>
          <p:nvSpPr>
            <p:cNvPr id="23" name="Freeform 22"/>
            <p:cNvSpPr/>
            <p:nvPr/>
          </p:nvSpPr>
          <p:spPr>
            <a:xfrm>
              <a:off x="4030645" y="5616368"/>
              <a:ext cx="986543" cy="591925"/>
            </a:xfrm>
            <a:prstGeom prst="round2Diag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dirty="0">
                  <a:solidFill>
                    <a:schemeClr val="accent6"/>
                  </a:solidFill>
                </a:rPr>
                <a:t>Dotnet ,C#,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dirty="0">
                  <a:solidFill>
                    <a:schemeClr val="accent6"/>
                  </a:solidFill>
                </a:rPr>
                <a:t>Asp.net,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dirty="0">
                  <a:solidFill>
                    <a:schemeClr val="accent6"/>
                  </a:solidFill>
                </a:rPr>
                <a:t> MVC, </a:t>
              </a:r>
            </a:p>
          </p:txBody>
        </p:sp>
        <p:sp>
          <p:nvSpPr>
            <p:cNvPr id="24" name="Freeform 23"/>
            <p:cNvSpPr/>
            <p:nvPr/>
          </p:nvSpPr>
          <p:spPr>
            <a:xfrm>
              <a:off x="5167613" y="4914371"/>
              <a:ext cx="986543" cy="591925"/>
            </a:xfrm>
            <a:prstGeom prst="round2Diag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dirty="0">
                  <a:solidFill>
                    <a:schemeClr val="accent6"/>
                  </a:solidFill>
                </a:rPr>
                <a:t>MOSS 2007,SharePoint 2010,2013 and Online,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dirty="0">
                  <a:solidFill>
                    <a:schemeClr val="accent6"/>
                  </a:solidFill>
                </a:rPr>
                <a:t>Office365 </a:t>
              </a:r>
            </a:p>
          </p:txBody>
        </p:sp>
        <p:sp>
          <p:nvSpPr>
            <p:cNvPr id="25" name="Freeform 24"/>
            <p:cNvSpPr/>
            <p:nvPr/>
          </p:nvSpPr>
          <p:spPr>
            <a:xfrm>
              <a:off x="5115842" y="5599080"/>
              <a:ext cx="986543" cy="591925"/>
            </a:xfrm>
            <a:prstGeom prst="round2Diag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5720" rIns="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dirty="0">
                  <a:solidFill>
                    <a:schemeClr val="accent6"/>
                  </a:solidFill>
                </a:rPr>
                <a:t>Azure(Azure </a:t>
              </a:r>
              <a:r>
                <a:rPr lang="en-US" sz="1050" dirty="0" err="1">
                  <a:solidFill>
                    <a:schemeClr val="accent6"/>
                  </a:solidFill>
                </a:rPr>
                <a:t>ML,Azure</a:t>
              </a:r>
              <a:r>
                <a:rPr lang="en-US" sz="1050" dirty="0">
                  <a:solidFill>
                    <a:schemeClr val="accent6"/>
                  </a:solidFill>
                </a:rPr>
                <a:t> </a:t>
              </a:r>
              <a:r>
                <a:rPr lang="en-US" sz="1050" dirty="0" err="1">
                  <a:solidFill>
                    <a:schemeClr val="accent6"/>
                  </a:solidFill>
                </a:rPr>
                <a:t>BLOB,Logic</a:t>
              </a:r>
              <a:r>
                <a:rPr lang="en-US" sz="1050" dirty="0">
                  <a:solidFill>
                    <a:schemeClr val="accent6"/>
                  </a:solidFill>
                </a:rPr>
                <a:t> Apps,Site2Site </a:t>
              </a:r>
              <a:r>
                <a:rPr lang="en-US" sz="1050" dirty="0" err="1">
                  <a:solidFill>
                    <a:schemeClr val="accent6"/>
                  </a:solidFill>
                </a:rPr>
                <a:t>etc</a:t>
              </a:r>
              <a:r>
                <a:rPr lang="en-US" sz="1050" dirty="0">
                  <a:solidFill>
                    <a:schemeClr val="accent6"/>
                  </a:solidFill>
                </a:rPr>
                <a:t>), AWS(EC2,Lambda) &amp; Servicenow</a:t>
              </a:r>
            </a:p>
          </p:txBody>
        </p:sp>
        <p:sp>
          <p:nvSpPr>
            <p:cNvPr id="27" name="Freeform 25"/>
            <p:cNvSpPr/>
            <p:nvPr/>
          </p:nvSpPr>
          <p:spPr>
            <a:xfrm>
              <a:off x="6201039" y="5599080"/>
              <a:ext cx="986543" cy="591925"/>
            </a:xfrm>
            <a:prstGeom prst="round2Diag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>
                  <a:solidFill>
                    <a:schemeClr val="accent6"/>
                  </a:solidFill>
                </a:rPr>
                <a:t>Data Science &amp; AI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9061496" y="4415693"/>
            <a:ext cx="29385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7145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pt-BR" sz="1200" dirty="0">
                <a:cs typeface="Arial" pitchFamily="34" charset="0"/>
              </a:rPr>
              <a:t>National Reliable Lending</a:t>
            </a:r>
          </a:p>
          <a:p>
            <a:pPr marL="285750" indent="-17145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pt-BR" sz="1200" dirty="0">
                <a:cs typeface="Arial" pitchFamily="34" charset="0"/>
              </a:rPr>
              <a:t>Red Lion Hotel</a:t>
            </a:r>
          </a:p>
          <a:p>
            <a:pPr marL="285750" indent="-17145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pt-BR" sz="1200" dirty="0">
                <a:cs typeface="Arial" pitchFamily="34" charset="0"/>
              </a:rPr>
              <a:t>Dorman</a:t>
            </a:r>
          </a:p>
          <a:p>
            <a:pPr marL="285750" indent="-17145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pt-BR" sz="1200" dirty="0">
                <a:cs typeface="Arial" pitchFamily="34" charset="0"/>
              </a:rPr>
              <a:t>Pulse – Intranet Application</a:t>
            </a:r>
          </a:p>
          <a:p>
            <a:pPr marL="285750" indent="-17145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endParaRPr lang="pt-BR" sz="1200" dirty="0">
              <a:cs typeface="Arial" pitchFamily="34" charset="0"/>
            </a:endParaRPr>
          </a:p>
          <a:p>
            <a:pPr marL="285750" indent="-17145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endParaRPr lang="pt-BR" sz="1200" dirty="0">
              <a:cs typeface="Arial" pitchFamily="34" charset="0"/>
            </a:endParaRPr>
          </a:p>
          <a:p>
            <a:pPr marL="1143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4"/>
              </a:buClr>
            </a:pPr>
            <a:endParaRPr lang="en-US" sz="1200" dirty="0">
              <a:cs typeface="Arial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973B0F9-2C95-4711-B434-ADD02B1EEA1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840" y="3986700"/>
            <a:ext cx="243427" cy="24342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0B4C04C-122C-4100-AAC2-7250FEAAEA6A}"/>
              </a:ext>
            </a:extLst>
          </p:cNvPr>
          <p:cNvSpPr/>
          <p:nvPr/>
        </p:nvSpPr>
        <p:spPr>
          <a:xfrm>
            <a:off x="4148734" y="1660219"/>
            <a:ext cx="80432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latin typeface="+mj-lt"/>
              </a:rPr>
              <a:t>13 years of IT Experience with more than 4 years as Technical Architect involve in Architecture, development &amp; deployment  in for </a:t>
            </a:r>
            <a:r>
              <a:rPr lang="en-US" sz="1200" b="1" dirty="0">
                <a:latin typeface="+mj-lt"/>
              </a:rPr>
              <a:t>Microsoft Office 365 with Power Platform </a:t>
            </a:r>
          </a:p>
          <a:p>
            <a:pPr marL="285750" lvl="0" indent="-285750"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latin typeface="+mj-lt"/>
              </a:rPr>
              <a:t>Expertise in developing custom apps(</a:t>
            </a:r>
            <a:r>
              <a:rPr lang="en-US" sz="1200" b="1" dirty="0">
                <a:latin typeface="+mj-lt"/>
              </a:rPr>
              <a:t>Power Platform with AI</a:t>
            </a:r>
            <a:r>
              <a:rPr lang="en-US" sz="1200" dirty="0">
                <a:latin typeface="+mj-lt"/>
              </a:rPr>
              <a:t>) and deploying in Microsoft Market place/Microsoft App Source &amp; also enables to creates new initiatives within Microsoft Practice Teams</a:t>
            </a:r>
          </a:p>
          <a:p>
            <a:pPr marL="285750" indent="-285750"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latin typeface="+mj-lt"/>
              </a:rPr>
              <a:t>Architecture detailed technical components for product utilizing high-level and Low-level design, solution meets functional requirement &amp; non-functional requirements (NFR).</a:t>
            </a:r>
          </a:p>
          <a:p>
            <a:pPr marL="285750" indent="-285750">
              <a:buFont typeface="Courier New" panose="02070309020205020404" pitchFamily="49" charset="0"/>
              <a:buChar char="o"/>
              <a:defRPr/>
            </a:pPr>
            <a:r>
              <a:rPr lang="en-US" sz="1200" dirty="0"/>
              <a:t>Implemented best practices to software development division to enhance product definition and application       customization</a:t>
            </a:r>
          </a:p>
          <a:p>
            <a:pPr marL="285750" indent="-285750">
              <a:buFont typeface="Courier New" panose="02070309020205020404" pitchFamily="49" charset="0"/>
              <a:buChar char="o"/>
              <a:defRPr/>
            </a:pPr>
            <a:r>
              <a:rPr lang="en-US" sz="1200" dirty="0"/>
              <a:t>Publishing and deploying of custom apps with </a:t>
            </a:r>
            <a:r>
              <a:rPr lang="en-US" sz="1200" b="1" dirty="0"/>
              <a:t>Microsoft Teams and other platforms</a:t>
            </a:r>
            <a:r>
              <a:rPr lang="en-US" sz="1200" dirty="0"/>
              <a:t>.</a:t>
            </a:r>
          </a:p>
          <a:p>
            <a:pPr marL="285750" lvl="0" indent="-285750">
              <a:buFont typeface="Courier New" panose="02070309020205020404" pitchFamily="49" charset="0"/>
              <a:buChar char="o"/>
              <a:defRPr/>
            </a:pPr>
            <a:endParaRPr lang="en-US" sz="12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594537-14EC-472E-9FCE-F4D6F96A2752}"/>
              </a:ext>
            </a:extLst>
          </p:cNvPr>
          <p:cNvSpPr/>
          <p:nvPr/>
        </p:nvSpPr>
        <p:spPr>
          <a:xfrm>
            <a:off x="514191" y="1134185"/>
            <a:ext cx="1098641" cy="1098641"/>
          </a:xfrm>
          <a:prstGeom prst="ellipse">
            <a:avLst/>
          </a:prstGeom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1" name="Picture 10" descr="A picture containing text, person, male&#10;&#10;Description automatically generated">
            <a:extLst>
              <a:ext uri="{FF2B5EF4-FFF2-40B4-BE49-F238E27FC236}">
                <a16:creationId xmlns:a16="http://schemas.microsoft.com/office/drawing/2014/main" id="{634EB29C-F51A-4F99-98C6-B0D0D19B0A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90" y="970327"/>
            <a:ext cx="1098640" cy="133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26118"/>
      </p:ext>
    </p:extLst>
  </p:cSld>
  <p:clrMapOvr>
    <a:masterClrMapping/>
  </p:clrMapOvr>
</p:sld>
</file>

<file path=ppt/theme/theme1.xml><?xml version="1.0" encoding="utf-8"?>
<a:theme xmlns:a="http://schemas.openxmlformats.org/drawingml/2006/main" name="Trianz Grey">
  <a:themeElements>
    <a:clrScheme name="Trianz-2017v2">
      <a:dk1>
        <a:srgbClr val="595959"/>
      </a:dk1>
      <a:lt1>
        <a:srgbClr val="F2F2F2"/>
      </a:lt1>
      <a:dk2>
        <a:srgbClr val="000000"/>
      </a:dk2>
      <a:lt2>
        <a:srgbClr val="FFFFFF"/>
      </a:lt2>
      <a:accent1>
        <a:srgbClr val="00A4DB"/>
      </a:accent1>
      <a:accent2>
        <a:srgbClr val="3996AA"/>
      </a:accent2>
      <a:accent3>
        <a:srgbClr val="FF671F"/>
      </a:accent3>
      <a:accent4>
        <a:srgbClr val="B04C1F"/>
      </a:accent4>
      <a:accent5>
        <a:srgbClr val="47A253"/>
      </a:accent5>
      <a:accent6>
        <a:srgbClr val="595959"/>
      </a:accent6>
      <a:hlink>
        <a:srgbClr val="C85D28"/>
      </a:hlink>
      <a:folHlink>
        <a:srgbClr val="C85D2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3215</TotalTime>
  <Words>274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Courier New</vt:lpstr>
      <vt:lpstr>Wingdings</vt:lpstr>
      <vt:lpstr>Trianz Grey</vt:lpstr>
      <vt:lpstr>TECHNICAL ARCHITECT – APPLICATION DEVELOPMENT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Mandar Mulay</dc:creator>
  <cp:lastModifiedBy>Chaithra PS (Trianz)</cp:lastModifiedBy>
  <cp:revision>75</cp:revision>
  <dcterms:created xsi:type="dcterms:W3CDTF">2019-07-21T18:10:03Z</dcterms:created>
  <dcterms:modified xsi:type="dcterms:W3CDTF">2022-06-01T07:24:29Z</dcterms:modified>
</cp:coreProperties>
</file>